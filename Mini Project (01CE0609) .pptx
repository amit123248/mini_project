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75" r:id="rId6"/>
    <p:sldId id="261" r:id="rId7"/>
    <p:sldId id="262" r:id="rId8"/>
    <p:sldId id="265" r:id="rId9"/>
    <p:sldId id="277" r:id="rId10"/>
    <p:sldId id="278" r:id="rId11"/>
    <p:sldId id="280" r:id="rId12"/>
    <p:sldId id="281" r:id="rId13"/>
    <p:sldId id="283" r:id="rId14"/>
    <p:sldId id="284" r:id="rId15"/>
    <p:sldId id="285" r:id="rId16"/>
    <p:sldId id="267" r:id="rId17"/>
    <p:sldId id="282" r:id="rId18"/>
    <p:sldId id="274" r:id="rId19"/>
    <p:sldId id="270" r:id="rId20"/>
    <p:sldId id="286" r:id="rId21"/>
    <p:sldId id="287" r:id="rId22"/>
    <p:sldId id="288" r:id="rId23"/>
    <p:sldId id="289" r:id="rId24"/>
    <p:sldId id="290" r:id="rId25"/>
    <p:sldId id="271" r:id="rId26"/>
    <p:sldId id="272" r:id="rId27"/>
    <p:sldId id="279" r:id="rId28"/>
    <p:sldId id="273" r:id="rId29"/>
    <p:sldId id="260" r:id="rId30"/>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Proxima Nova"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5"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3" d="100"/>
          <a:sy n="63" d="100"/>
        </p:scale>
        <p:origin x="60" y="116"/>
      </p:cViewPr>
      <p:guideLst>
        <p:guide orient="horz" pos="2185"/>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115414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1791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6887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0280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7059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379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0230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861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7920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777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0699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6442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1913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172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8512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6653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8438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71463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3169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746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4136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4356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1845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81496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796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2588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6696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869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9019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6570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193926" y="3812993"/>
            <a:ext cx="7230104" cy="1292631"/>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mn-lt"/>
                <a:ea typeface="Proxima Nova" panose="02000506030000020004"/>
                <a:cs typeface="Proxima Nova" panose="02000506030000020004"/>
                <a:sym typeface="Proxima Nova" panose="02000506030000020004"/>
              </a:rPr>
              <a:t>Team Member 1: </a:t>
            </a:r>
            <a:r>
              <a:rPr lang="en-US" sz="1800" dirty="0" smtClean="0">
                <a:solidFill>
                  <a:srgbClr val="FF0000"/>
                </a:solidFill>
                <a:latin typeface="+mn-lt"/>
                <a:ea typeface="Proxima Nova" panose="02000506030000020004"/>
                <a:cs typeface="Proxima Nova" panose="02000506030000020004"/>
                <a:sym typeface="Proxima Nova" panose="02000506030000020004"/>
              </a:rPr>
              <a:t>Amit Agarwal</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 (</a:t>
            </a:r>
            <a:r>
              <a:rPr lang="en-US" sz="1800" dirty="0" smtClean="0">
                <a:solidFill>
                  <a:srgbClr val="FF0000"/>
                </a:solidFill>
                <a:latin typeface="+mn-lt"/>
                <a:ea typeface="Proxima Nova" panose="02000506030000020004"/>
                <a:cs typeface="Proxima Nova" panose="02000506030000020004"/>
                <a:sym typeface="Proxima Nova" panose="02000506030000020004"/>
              </a:rPr>
              <a:t>92301703181</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 (</a:t>
            </a:r>
            <a:r>
              <a:rPr lang="en-US" sz="1800" dirty="0" smtClean="0">
                <a:solidFill>
                  <a:srgbClr val="FF0000"/>
                </a:solidFill>
                <a:latin typeface="+mn-lt"/>
                <a:ea typeface="Proxima Nova" panose="02000506030000020004"/>
                <a:cs typeface="Proxima Nova" panose="02000506030000020004"/>
                <a:sym typeface="Proxima Nova" panose="02000506030000020004"/>
              </a:rPr>
              <a:t>EC2</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a:t>
            </a:r>
            <a:endParaRPr dirty="0">
              <a:solidFill>
                <a:srgbClr val="FF0000"/>
              </a:solidFill>
              <a:latin typeface="+mn-lt"/>
            </a:endParaRPr>
          </a:p>
          <a:p>
            <a:pPr marL="0" marR="0" lvl="0" indent="0" algn="l" rtl="0">
              <a:spcBef>
                <a:spcPts val="0"/>
              </a:spcBef>
              <a:spcAft>
                <a:spcPts val="0"/>
              </a:spcAft>
              <a:buNone/>
            </a:pPr>
            <a:r>
              <a:rPr lang="en-US" sz="1800" b="0" i="0" u="none" strike="noStrike" cap="none" dirty="0">
                <a:solidFill>
                  <a:schemeClr val="dk1"/>
                </a:solidFill>
                <a:latin typeface="+mn-lt"/>
                <a:ea typeface="Proxima Nova" panose="02000506030000020004"/>
                <a:cs typeface="Proxima Nova" panose="02000506030000020004"/>
                <a:sym typeface="Proxima Nova" panose="02000506030000020004"/>
              </a:rPr>
              <a:t>Team Member 2: </a:t>
            </a:r>
            <a:r>
              <a:rPr lang="en-US" sz="1800" dirty="0" smtClean="0">
                <a:solidFill>
                  <a:srgbClr val="FF0000"/>
                </a:solidFill>
                <a:latin typeface="+mn-lt"/>
                <a:ea typeface="Proxima Nova" panose="02000506030000020004"/>
                <a:cs typeface="Proxima Nova" panose="02000506030000020004"/>
                <a:sym typeface="Proxima Nova" panose="02000506030000020004"/>
              </a:rPr>
              <a:t>Ashok Chaudhary</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 (</a:t>
            </a:r>
            <a:r>
              <a:rPr lang="en-US" sz="1800" dirty="0" smtClean="0">
                <a:solidFill>
                  <a:srgbClr val="FF0000"/>
                </a:solidFill>
                <a:latin typeface="+mn-lt"/>
                <a:ea typeface="Proxima Nova" panose="02000506030000020004"/>
                <a:cs typeface="Proxima Nova" panose="02000506030000020004"/>
                <a:sym typeface="Proxima Nova" panose="02000506030000020004"/>
              </a:rPr>
              <a:t>92301703204</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 (</a:t>
            </a:r>
            <a:r>
              <a:rPr lang="en-US" sz="1800" dirty="0" smtClean="0">
                <a:solidFill>
                  <a:srgbClr val="FF0000"/>
                </a:solidFill>
                <a:latin typeface="+mn-lt"/>
                <a:ea typeface="Proxima Nova" panose="02000506030000020004"/>
                <a:cs typeface="Proxima Nova" panose="02000506030000020004"/>
                <a:sym typeface="Proxima Nova" panose="02000506030000020004"/>
              </a:rPr>
              <a:t>EC2</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a:t>
            </a:r>
            <a:endParaRPr dirty="0">
              <a:solidFill>
                <a:srgbClr val="FF0000"/>
              </a:solidFill>
              <a:latin typeface="+mn-lt"/>
            </a:endParaRPr>
          </a:p>
          <a:p>
            <a:pPr marL="0" marR="0" lvl="0" indent="0" algn="l" rtl="0">
              <a:spcBef>
                <a:spcPts val="0"/>
              </a:spcBef>
              <a:spcAft>
                <a:spcPts val="0"/>
              </a:spcAft>
              <a:buNone/>
            </a:pPr>
            <a:r>
              <a:rPr lang="en-US" sz="1800" b="0" i="0" u="none" strike="noStrike" cap="none" dirty="0">
                <a:solidFill>
                  <a:schemeClr val="dk1"/>
                </a:solidFill>
                <a:latin typeface="+mn-lt"/>
                <a:ea typeface="Proxima Nova" panose="02000506030000020004"/>
                <a:cs typeface="Proxima Nova" panose="02000506030000020004"/>
                <a:sym typeface="Proxima Nova" panose="02000506030000020004"/>
              </a:rPr>
              <a:t>Team Member 3: </a:t>
            </a:r>
            <a:r>
              <a:rPr lang="en-US" sz="1800" dirty="0" err="1" smtClean="0">
                <a:solidFill>
                  <a:srgbClr val="FF0000"/>
                </a:solidFill>
                <a:latin typeface="+mn-lt"/>
                <a:ea typeface="Proxima Nova" panose="02000506030000020004"/>
                <a:cs typeface="Proxima Nova" panose="02000506030000020004"/>
                <a:sym typeface="Proxima Nova" panose="02000506030000020004"/>
              </a:rPr>
              <a:t>Kashyap</a:t>
            </a:r>
            <a:r>
              <a:rPr lang="en-US" sz="1800" dirty="0" smtClean="0">
                <a:solidFill>
                  <a:srgbClr val="FF0000"/>
                </a:solidFill>
                <a:latin typeface="+mn-lt"/>
                <a:ea typeface="Proxima Nova" panose="02000506030000020004"/>
                <a:cs typeface="Proxima Nova" panose="02000506030000020004"/>
                <a:sym typeface="Proxima Nova" panose="02000506030000020004"/>
              </a:rPr>
              <a:t> </a:t>
            </a:r>
            <a:r>
              <a:rPr lang="en-US" sz="1800" dirty="0" err="1" smtClean="0">
                <a:solidFill>
                  <a:srgbClr val="FF0000"/>
                </a:solidFill>
                <a:latin typeface="+mn-lt"/>
                <a:ea typeface="Proxima Nova" panose="02000506030000020004"/>
                <a:cs typeface="Proxima Nova" panose="02000506030000020004"/>
                <a:sym typeface="Proxima Nova" panose="02000506030000020004"/>
              </a:rPr>
              <a:t>Amrutiya</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 (92301703172) (</a:t>
            </a:r>
            <a:r>
              <a:rPr lang="en-US" sz="1800" dirty="0" smtClean="0">
                <a:solidFill>
                  <a:srgbClr val="FF0000"/>
                </a:solidFill>
                <a:latin typeface="+mn-lt"/>
                <a:ea typeface="Proxima Nova" panose="02000506030000020004"/>
                <a:cs typeface="Proxima Nova" panose="02000506030000020004"/>
                <a:sym typeface="Proxima Nova" panose="02000506030000020004"/>
              </a:rPr>
              <a:t>EC2</a:t>
            </a:r>
            <a:r>
              <a:rPr lang="en-US" sz="1800" b="0" i="0" u="none" strike="noStrike" cap="none" dirty="0" smtClean="0">
                <a:solidFill>
                  <a:srgbClr val="FF0000"/>
                </a:solidFill>
                <a:latin typeface="+mn-lt"/>
                <a:ea typeface="Proxima Nova" panose="02000506030000020004"/>
                <a:cs typeface="Proxima Nova" panose="02000506030000020004"/>
                <a:sym typeface="Proxima Nova" panose="02000506030000020004"/>
              </a:rPr>
              <a:t>)</a:t>
            </a:r>
            <a:endParaRPr dirty="0">
              <a:solidFill>
                <a:srgbClr val="FF0000"/>
              </a:solidFill>
              <a:latin typeface="+mn-lt"/>
            </a:endParaRPr>
          </a:p>
          <a:p>
            <a:pPr marL="0" marR="0" lvl="0" indent="0" algn="l" rtl="0">
              <a:spcBef>
                <a:spcPts val="0"/>
              </a:spcBef>
              <a:spcAft>
                <a:spcPts val="0"/>
              </a:spcAft>
              <a:buNone/>
            </a:pPr>
            <a:endParaRPr sz="1800" b="0" i="0" u="none" strike="noStrike" cap="none" dirty="0">
              <a:solidFill>
                <a:schemeClr val="dk1"/>
              </a:solidFill>
              <a:latin typeface="+mn-lt"/>
              <a:ea typeface="Proxima Nova" panose="02000506030000020004"/>
              <a:cs typeface="Proxima Nova" panose="02000506030000020004"/>
              <a:sym typeface="Proxima Nova" panose="02000506030000020004"/>
            </a:endParaRPr>
          </a:p>
        </p:txBody>
      </p:sp>
      <p:sp>
        <p:nvSpPr>
          <p:cNvPr id="89" name="Google Shape;89;p2"/>
          <p:cNvSpPr txBox="1"/>
          <p:nvPr/>
        </p:nvSpPr>
        <p:spPr>
          <a:xfrm>
            <a:off x="2709271" y="2691058"/>
            <a:ext cx="7195800" cy="1225977"/>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dirty="0" smtClean="0">
                <a:solidFill>
                  <a:srgbClr val="FF0000"/>
                </a:solidFill>
                <a:latin typeface="+mj-lt"/>
                <a:sym typeface="Proxima Nova" panose="02000506030000020004"/>
              </a:rPr>
              <a:t>Fake Account Detection on Social Media Using AI</a:t>
            </a:r>
            <a:endParaRPr dirty="0">
              <a:latin typeface="+mj-lt"/>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mj-lt"/>
                <a:ea typeface="Proxima Nova" panose="02000506030000020004"/>
                <a:cs typeface="Proxima Nova" panose="02000506030000020004"/>
                <a:sym typeface="Proxima Nova" panose="02000506030000020004"/>
              </a:rPr>
              <a:t>Team ID: </a:t>
            </a:r>
            <a:r>
              <a:rPr lang="en-US" sz="2200" dirty="0" smtClean="0">
                <a:solidFill>
                  <a:srgbClr val="FF0000"/>
                </a:solidFill>
                <a:latin typeface="+mj-lt"/>
                <a:ea typeface="Proxima Nova" panose="02000506030000020004"/>
                <a:cs typeface="Proxima Nova" panose="02000506030000020004"/>
                <a:sym typeface="Proxima Nova" panose="02000506030000020004"/>
              </a:rPr>
              <a:t>T_029</a:t>
            </a:r>
            <a:endParaRPr sz="2200" b="0" i="0" u="none" strike="noStrike" cap="none" dirty="0">
              <a:solidFill>
                <a:srgbClr val="FF0000"/>
              </a:solidFill>
              <a:latin typeface="+mj-lt"/>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29117" y="4655310"/>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91" name="Google Shape;91;p2"/>
          <p:cNvSpPr txBox="1"/>
          <p:nvPr/>
        </p:nvSpPr>
        <p:spPr>
          <a:xfrm>
            <a:off x="3193926" y="4972372"/>
            <a:ext cx="5742683" cy="73533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Internal Guide</a:t>
            </a:r>
          </a:p>
          <a:p>
            <a:pPr lvl="0" algn="ctr"/>
            <a:r>
              <a:rPr lang="en-IN" altLang="en-US" sz="1800" dirty="0" smtClean="0">
                <a:solidFill>
                  <a:srgbClr val="FF0000"/>
                </a:solidFill>
                <a:latin typeface="Proxima Nova" panose="02000506030000020004"/>
                <a:ea typeface="Proxima Nova" panose="02000506030000020004"/>
                <a:cs typeface="Proxima Nova" panose="02000506030000020004"/>
                <a:sym typeface="Proxima Nova" panose="02000506030000020004"/>
              </a:rPr>
              <a:t> </a:t>
            </a:r>
            <a:r>
              <a:rPr lang="en-IN" altLang="en-US" sz="1800" dirty="0" err="1" smtClean="0">
                <a:solidFill>
                  <a:srgbClr val="FF0000"/>
                </a:solidFill>
                <a:latin typeface="Proxima Nova" panose="02000506030000020004"/>
                <a:ea typeface="Proxima Nova" panose="02000506030000020004"/>
                <a:cs typeface="Proxima Nova" panose="02000506030000020004"/>
                <a:sym typeface="Proxima Nova" panose="02000506030000020004"/>
              </a:rPr>
              <a:t>Prof.</a:t>
            </a:r>
            <a:r>
              <a:rPr lang="en-IN" altLang="en-US" sz="1800" dirty="0" smtClean="0">
                <a:solidFill>
                  <a:srgbClr val="FF0000"/>
                </a:solidFill>
                <a:latin typeface="Proxima Nova" panose="02000506030000020004"/>
                <a:ea typeface="Proxima Nova" panose="02000506030000020004"/>
                <a:cs typeface="Proxima Nova" panose="02000506030000020004"/>
                <a:sym typeface="Proxima Nova" panose="02000506030000020004"/>
              </a:rPr>
              <a:t> </a:t>
            </a:r>
            <a:r>
              <a:rPr lang="en-IN" altLang="en-US" sz="1800" dirty="0" err="1" smtClean="0">
                <a:solidFill>
                  <a:srgbClr val="FF0000"/>
                </a:solidFill>
                <a:latin typeface="Proxima Nova" panose="02000506030000020004"/>
                <a:ea typeface="Proxima Nova" panose="02000506030000020004"/>
                <a:cs typeface="Proxima Nova" panose="02000506030000020004"/>
                <a:sym typeface="Proxima Nova" panose="02000506030000020004"/>
              </a:rPr>
              <a:t>Yogeshwar</a:t>
            </a:r>
            <a:r>
              <a:rPr lang="en-IN" altLang="en-US" sz="1800" dirty="0" smtClean="0">
                <a:solidFill>
                  <a:srgbClr val="FF0000"/>
                </a:solidFill>
                <a:latin typeface="Proxima Nova" panose="02000506030000020004"/>
                <a:ea typeface="Proxima Nova" panose="02000506030000020004"/>
                <a:cs typeface="Proxima Nova" panose="02000506030000020004"/>
                <a:sym typeface="Proxima Nova" panose="02000506030000020004"/>
              </a:rPr>
              <a:t> </a:t>
            </a:r>
            <a:r>
              <a:rPr lang="en-IN" altLang="en-US" sz="1800" dirty="0" err="1" smtClean="0">
                <a:solidFill>
                  <a:srgbClr val="FF0000"/>
                </a:solidFill>
                <a:latin typeface="Proxima Nova" panose="02000506030000020004"/>
                <a:ea typeface="Proxima Nova" panose="02000506030000020004"/>
                <a:cs typeface="Proxima Nova" panose="02000506030000020004"/>
                <a:sym typeface="Proxima Nova" panose="02000506030000020004"/>
              </a:rPr>
              <a:t>Prajapati</a:t>
            </a:r>
            <a:r>
              <a:rPr lang="en-IN" altLang="en-US" sz="1800" dirty="0" smtClean="0">
                <a:solidFill>
                  <a:srgbClr val="FF0000"/>
                </a:solidFill>
                <a:latin typeface="Proxima Nova" panose="02000506030000020004"/>
                <a:ea typeface="Proxima Nova" panose="02000506030000020004"/>
                <a:cs typeface="Proxima Nova" panose="02000506030000020004"/>
                <a:sym typeface="Proxima Nova" panose="02000506030000020004"/>
              </a:rPr>
              <a:t> </a:t>
            </a:r>
            <a:r>
              <a:rPr lang="en-US" sz="1800" b="0" i="0" u="none" strike="noStrike" cap="none" dirty="0" smtClean="0">
                <a:solidFill>
                  <a:schemeClr val="dk1"/>
                </a:solidFill>
                <a:latin typeface="Proxima Nova" panose="02000506030000020004"/>
                <a:ea typeface="Proxima Nova" panose="02000506030000020004"/>
                <a:cs typeface="Proxima Nova" panose="02000506030000020004"/>
                <a:sym typeface="Proxima Nova" panose="02000506030000020004"/>
              </a:rPr>
              <a:t> </a:t>
            </a:r>
            <a:endParaRPr lang="en-US" dirty="0"/>
          </a:p>
        </p:txBody>
      </p:sp>
      <p:sp>
        <p:nvSpPr>
          <p:cNvPr id="92" name="Google Shape;92;p2"/>
          <p:cNvSpPr txBox="1"/>
          <p:nvPr/>
        </p:nvSpPr>
        <p:spPr>
          <a:xfrm>
            <a:off x="3193926" y="5443418"/>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p>
        </p:txBody>
      </p:sp>
      <p:sp>
        <p:nvSpPr>
          <p:cNvPr id="93" name="Google Shape;93;p2"/>
          <p:cNvSpPr txBox="1"/>
          <p:nvPr/>
        </p:nvSpPr>
        <p:spPr>
          <a:xfrm>
            <a:off x="2517522" y="1020583"/>
            <a:ext cx="7095490" cy="202565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b="1" i="0" u="none" strike="noStrike" cap="none" dirty="0">
                <a:solidFill>
                  <a:srgbClr val="04A2B9"/>
                </a:solidFill>
                <a:latin typeface="+mj-lt"/>
                <a:ea typeface="Proxima Nova" panose="02000506030000020004"/>
                <a:cs typeface="Proxima Nova" panose="02000506030000020004"/>
                <a:sym typeface="Proxima Nova" panose="02000506030000020004"/>
              </a:rPr>
              <a:t>M</a:t>
            </a:r>
            <a:r>
              <a:rPr lang="en-IN" altLang="en-US" sz="3200" b="1" i="0" u="none" strike="noStrike" cap="none" dirty="0">
                <a:solidFill>
                  <a:srgbClr val="04A2B9"/>
                </a:solidFill>
                <a:latin typeface="+mj-lt"/>
                <a:ea typeface="Proxima Nova" panose="02000506030000020004"/>
                <a:cs typeface="Proxima Nova" panose="02000506030000020004"/>
                <a:sym typeface="Proxima Nova" panose="02000506030000020004"/>
              </a:rPr>
              <a:t>ini</a:t>
            </a:r>
            <a:r>
              <a:rPr lang="en-US" sz="3200" b="1" i="0" u="none" strike="noStrike" cap="none" dirty="0">
                <a:solidFill>
                  <a:srgbClr val="04A2B9"/>
                </a:solidFill>
                <a:latin typeface="+mj-lt"/>
                <a:ea typeface="Proxima Nova" panose="02000506030000020004"/>
                <a:cs typeface="Proxima Nova" panose="02000506030000020004"/>
                <a:sym typeface="Proxima Nova" panose="02000506030000020004"/>
              </a:rPr>
              <a:t> Project (</a:t>
            </a:r>
            <a:r>
              <a:rPr lang="en-US" sz="3200" b="1" i="0" u="none" strike="noStrike" cap="none" dirty="0" smtClean="0">
                <a:solidFill>
                  <a:srgbClr val="04A2B9"/>
                </a:solidFill>
                <a:latin typeface="+mj-lt"/>
                <a:ea typeface="Proxima Nova" panose="02000506030000020004"/>
                <a:cs typeface="Proxima Nova" panose="02000506030000020004"/>
                <a:sym typeface="Proxima Nova" panose="02000506030000020004"/>
              </a:rPr>
              <a:t>01CE0</a:t>
            </a:r>
            <a:r>
              <a:rPr lang="en-IN" sz="3200" b="1" dirty="0">
                <a:solidFill>
                  <a:srgbClr val="04A2B9"/>
                </a:solidFill>
                <a:latin typeface="+mj-lt"/>
                <a:ea typeface="Proxima Nova" panose="02000506030000020004"/>
                <a:cs typeface="Proxima Nova" panose="02000506030000020004"/>
                <a:sym typeface="Proxima Nova" panose="02000506030000020004"/>
              </a:rPr>
              <a:t>6</a:t>
            </a:r>
            <a:r>
              <a:rPr lang="en-IN" altLang="en-US" sz="3200" b="1" i="0" u="none" strike="noStrike" cap="none" dirty="0" smtClean="0">
                <a:solidFill>
                  <a:srgbClr val="04A2B9"/>
                </a:solidFill>
                <a:latin typeface="+mj-lt"/>
                <a:ea typeface="Proxima Nova" panose="02000506030000020004"/>
                <a:cs typeface="Proxima Nova" panose="02000506030000020004"/>
                <a:sym typeface="Proxima Nova" panose="02000506030000020004"/>
              </a:rPr>
              <a:t>09</a:t>
            </a:r>
            <a:r>
              <a:rPr lang="en-US" sz="3200" b="1" i="0" u="none" strike="noStrike" cap="none" dirty="0">
                <a:solidFill>
                  <a:srgbClr val="04A2B9"/>
                </a:solidFill>
                <a:latin typeface="+mj-lt"/>
                <a:ea typeface="Proxima Nova" panose="02000506030000020004"/>
                <a:cs typeface="Proxima Nova" panose="02000506030000020004"/>
                <a:sym typeface="Proxima Nova" panose="02000506030000020004"/>
              </a:rPr>
              <a:t>)</a:t>
            </a:r>
          </a:p>
          <a:p>
            <a:pPr marL="12700" marR="0" lvl="0" indent="0" algn="ctr" rtl="0">
              <a:lnSpc>
                <a:spcPct val="100000"/>
              </a:lnSpc>
              <a:spcBef>
                <a:spcPts val="0"/>
              </a:spcBef>
              <a:spcAft>
                <a:spcPts val="0"/>
              </a:spcAft>
              <a:buClr>
                <a:srgbClr val="04A2B9"/>
              </a:buClr>
              <a:buSzPts val="2200"/>
              <a:buFont typeface="Proxima Nova" panose="02000506030000020004"/>
              <a:buNone/>
            </a:pPr>
            <a:r>
              <a:rPr lang="en-IN" altLang="en-US" sz="3200" b="1" i="0" u="none" strike="noStrike" cap="none" dirty="0">
                <a:solidFill>
                  <a:srgbClr val="04A2B9"/>
                </a:solidFill>
                <a:latin typeface="+mj-lt"/>
                <a:ea typeface="Proxima Nova" panose="02000506030000020004"/>
                <a:cs typeface="Proxima Nova" panose="02000506030000020004"/>
                <a:sym typeface="Proxima Nova" panose="02000506030000020004"/>
              </a:rPr>
              <a:t>Semester 6</a:t>
            </a:r>
            <a:endParaRPr sz="3200" b="1" dirty="0">
              <a:latin typeface="+mj-lt"/>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mj-lt"/>
                <a:ea typeface="Proxima Nova" panose="02000506030000020004"/>
                <a:cs typeface="Proxima Nova" panose="02000506030000020004"/>
                <a:sym typeface="Proxima Nova" panose="02000506030000020004"/>
              </a:rPr>
              <a:t>Review 1 </a:t>
            </a:r>
            <a:br>
              <a:rPr lang="en-US" sz="2200" b="0" i="0" u="none" strike="noStrike" cap="none" dirty="0">
                <a:solidFill>
                  <a:srgbClr val="04A2B9"/>
                </a:solidFill>
                <a:latin typeface="+mj-lt"/>
                <a:ea typeface="Proxima Nova" panose="02000506030000020004"/>
                <a:cs typeface="Proxima Nova" panose="02000506030000020004"/>
                <a:sym typeface="Proxima Nova" panose="02000506030000020004"/>
              </a:rPr>
            </a:br>
            <a:r>
              <a:rPr lang="en-US" sz="2200" b="0" i="0" u="none" strike="noStrike" cap="none" dirty="0" smtClean="0">
                <a:solidFill>
                  <a:srgbClr val="04A2B9"/>
                </a:solidFill>
                <a:latin typeface="+mj-lt"/>
                <a:ea typeface="Proxima Nova" panose="02000506030000020004"/>
                <a:cs typeface="Proxima Nova" panose="02000506030000020004"/>
                <a:sym typeface="Proxima Nova" panose="02000506030000020004"/>
              </a:rPr>
              <a:t>(</a:t>
            </a:r>
            <a:r>
              <a:rPr lang="en-US" sz="2200" dirty="0" smtClean="0">
                <a:solidFill>
                  <a:srgbClr val="FF0000"/>
                </a:solidFill>
                <a:latin typeface="+mj-lt"/>
                <a:ea typeface="Proxima Nova" panose="02000506030000020004"/>
                <a:cs typeface="Proxima Nova" panose="02000506030000020004"/>
                <a:sym typeface="Proxima Nova" panose="02000506030000020004"/>
              </a:rPr>
              <a:t>07/03</a:t>
            </a:r>
            <a:r>
              <a:rPr lang="en-US" sz="2200" b="0" i="0" u="none" strike="noStrike" cap="none" dirty="0" smtClean="0">
                <a:solidFill>
                  <a:srgbClr val="FF0000"/>
                </a:solidFill>
                <a:latin typeface="+mj-lt"/>
                <a:ea typeface="Proxima Nova" panose="02000506030000020004"/>
                <a:cs typeface="Proxima Nova" panose="02000506030000020004"/>
                <a:sym typeface="Proxima Nova" panose="02000506030000020004"/>
              </a:rPr>
              <a:t>/2026</a:t>
            </a:r>
            <a:r>
              <a:rPr lang="en-US" sz="2200" b="0" i="0" u="none" strike="noStrike" cap="none" dirty="0" smtClean="0">
                <a:solidFill>
                  <a:srgbClr val="04A2B9"/>
                </a:solidFill>
                <a:latin typeface="+mj-lt"/>
                <a:ea typeface="Proxima Nova" panose="02000506030000020004"/>
                <a:cs typeface="Proxima Nova" panose="02000506030000020004"/>
                <a:sym typeface="Proxima Nova" panose="02000506030000020004"/>
              </a:rPr>
              <a:t>)</a:t>
            </a:r>
            <a:br>
              <a:rPr lang="en-US" sz="2200" b="0" i="0" u="none" strike="noStrike" cap="none" dirty="0" smtClean="0">
                <a:solidFill>
                  <a:srgbClr val="04A2B9"/>
                </a:solidFill>
                <a:latin typeface="+mj-lt"/>
                <a:ea typeface="Proxima Nova" panose="02000506030000020004"/>
                <a:cs typeface="Proxima Nova" panose="02000506030000020004"/>
                <a:sym typeface="Proxima Nova" panose="02000506030000020004"/>
              </a:rPr>
            </a:br>
            <a:endParaRPr sz="2200" b="0" i="0" u="none" strike="noStrike" cap="none" dirty="0">
              <a:solidFill>
                <a:schemeClr val="dk1"/>
              </a:solidFill>
              <a:latin typeface="+mj-lt"/>
              <a:ea typeface="Proxima Nova" panose="02000506030000020004"/>
              <a:cs typeface="Proxima Nova" panose="02000506030000020004"/>
              <a:sym typeface="Proxima Nova" panose="02000506030000020004"/>
            </a:endParaRPr>
          </a:p>
        </p:txBody>
      </p:sp>
      <p:sp>
        <p:nvSpPr>
          <p:cNvPr id="94" name="Google Shape;94;p2"/>
          <p:cNvSpPr txBox="1"/>
          <p:nvPr/>
        </p:nvSpPr>
        <p:spPr>
          <a:xfrm>
            <a:off x="2293191" y="564351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a:t>
            </a:r>
            <a:r>
              <a:rPr lang="en-US" sz="36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36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100" name="Google Shape;100;p3"/>
          <p:cNvSpPr txBox="1"/>
          <p:nvPr/>
        </p:nvSpPr>
        <p:spPr>
          <a:xfrm>
            <a:off x="646113" y="985367"/>
            <a:ext cx="8591100" cy="498595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sz="2400" dirty="0">
              <a:latin typeface="+mj-lt"/>
            </a:endParaRPr>
          </a:p>
          <a:p>
            <a:pPr lvl="0">
              <a:buSzPts val="1700"/>
            </a:pPr>
            <a:r>
              <a:rPr lang="en-US" sz="2400" dirty="0" smtClean="0"/>
              <a:t>• Abstract</a:t>
            </a:r>
            <a:endParaRPr lang="en-US" sz="2400" dirty="0" smtClean="0">
              <a:latin typeface="+mj-lt"/>
            </a:endParaRPr>
          </a:p>
          <a:p>
            <a:pPr lvl="0">
              <a:buSzPts val="1700"/>
            </a:pPr>
            <a:r>
              <a:rPr lang="en-US" sz="2400" dirty="0" smtClean="0">
                <a:latin typeface="+mj-lt"/>
              </a:rPr>
              <a:t>• Introduction</a:t>
            </a:r>
            <a:r>
              <a:rPr lang="en-US" sz="2400" dirty="0">
                <a:latin typeface="+mj-lt"/>
              </a:rPr>
              <a:t/>
            </a:r>
            <a:br>
              <a:rPr lang="en-US" sz="2400" dirty="0">
                <a:latin typeface="+mj-lt"/>
              </a:rPr>
            </a:br>
            <a:r>
              <a:rPr lang="en-US" sz="2400" dirty="0">
                <a:latin typeface="+mj-lt"/>
              </a:rPr>
              <a:t>• Problem Statement</a:t>
            </a:r>
            <a:br>
              <a:rPr lang="en-US" sz="2400" dirty="0">
                <a:latin typeface="+mj-lt"/>
              </a:rPr>
            </a:br>
            <a:r>
              <a:rPr lang="en-US" sz="2400" dirty="0">
                <a:latin typeface="+mj-lt"/>
              </a:rPr>
              <a:t>• Objectives</a:t>
            </a:r>
            <a:br>
              <a:rPr lang="en-US" sz="2400" dirty="0">
                <a:latin typeface="+mj-lt"/>
              </a:rPr>
            </a:br>
            <a:r>
              <a:rPr lang="en-US" sz="2400" dirty="0">
                <a:latin typeface="+mj-lt"/>
              </a:rPr>
              <a:t>• Literature </a:t>
            </a:r>
            <a:r>
              <a:rPr lang="en-US" sz="2400" dirty="0" smtClean="0">
                <a:latin typeface="+mj-lt"/>
              </a:rPr>
              <a:t>Review</a:t>
            </a:r>
            <a:r>
              <a:rPr lang="en-US" sz="2400" dirty="0">
                <a:latin typeface="+mj-lt"/>
              </a:rPr>
              <a:t/>
            </a:r>
            <a:br>
              <a:rPr lang="en-US" sz="2400" dirty="0">
                <a:latin typeface="+mj-lt"/>
              </a:rPr>
            </a:br>
            <a:r>
              <a:rPr lang="en-US" sz="2400" dirty="0">
                <a:latin typeface="+mj-lt"/>
              </a:rPr>
              <a:t>• Research Gap</a:t>
            </a:r>
            <a:br>
              <a:rPr lang="en-US" sz="2400" dirty="0">
                <a:latin typeface="+mj-lt"/>
              </a:rPr>
            </a:br>
            <a:r>
              <a:rPr lang="en-US" sz="2400" dirty="0">
                <a:latin typeface="+mj-lt"/>
              </a:rPr>
              <a:t>• Proposed </a:t>
            </a:r>
            <a:r>
              <a:rPr lang="en-US" sz="2400" dirty="0" smtClean="0">
                <a:latin typeface="+mj-lt"/>
              </a:rPr>
              <a:t>System</a:t>
            </a:r>
          </a:p>
          <a:p>
            <a:pPr lvl="0">
              <a:buSzPts val="1700"/>
            </a:pPr>
            <a:r>
              <a:rPr lang="en-US" sz="2400" dirty="0" smtClean="0"/>
              <a:t>• Proposed Methodology</a:t>
            </a:r>
            <a:r>
              <a:rPr lang="en-US" sz="2400" dirty="0">
                <a:latin typeface="+mj-lt"/>
              </a:rPr>
              <a:t/>
            </a:r>
            <a:br>
              <a:rPr lang="en-US" sz="2400" dirty="0">
                <a:latin typeface="+mj-lt"/>
              </a:rPr>
            </a:br>
            <a:r>
              <a:rPr lang="en-US" sz="2400" dirty="0">
                <a:latin typeface="+mj-lt"/>
              </a:rPr>
              <a:t>• Dataset</a:t>
            </a:r>
            <a:br>
              <a:rPr lang="en-US" sz="2400" dirty="0">
                <a:latin typeface="+mj-lt"/>
              </a:rPr>
            </a:br>
            <a:r>
              <a:rPr lang="en-US" sz="2400" dirty="0">
                <a:latin typeface="+mj-lt"/>
              </a:rPr>
              <a:t>• Expected Outcomes</a:t>
            </a:r>
            <a:br>
              <a:rPr lang="en-US" sz="2400" dirty="0">
                <a:latin typeface="+mj-lt"/>
              </a:rPr>
            </a:br>
            <a:r>
              <a:rPr lang="en-US" sz="2400" dirty="0">
                <a:latin typeface="+mj-lt"/>
              </a:rPr>
              <a:t>• References</a:t>
            </a:r>
            <a:endParaRPr lang="en-US" sz="2400" dirty="0">
              <a:solidFill>
                <a:srgbClr val="FF0000"/>
              </a:solidFill>
              <a:latin typeface="+mj-lt"/>
              <a:sym typeface="Proxima Nova" panose="02000506030000020004"/>
            </a:endParaRPr>
          </a:p>
          <a:p>
            <a:pPr marL="0" marR="0" lvl="0" indent="0" algn="l" rtl="0">
              <a:spcBef>
                <a:spcPts val="0"/>
              </a:spcBef>
              <a:spcAft>
                <a:spcPts val="0"/>
              </a:spcAft>
              <a:buNone/>
            </a:pPr>
            <a:endParaRPr lang="en-US" sz="2400" dirty="0">
              <a:solidFill>
                <a:srgbClr val="FF0000"/>
              </a:solidFill>
              <a:latin typeface="+mj-lt"/>
              <a:sym typeface="Proxima Nova" panose="020005060300000200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72760" y="367314"/>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smtClean="0">
                <a:solidFill>
                  <a:schemeClr val="accent1"/>
                </a:solidFill>
                <a:latin typeface="Proxima Nova" panose="02000506030000020004"/>
                <a:ea typeface="Proxima Nova" panose="02000506030000020004"/>
                <a:cs typeface="Proxima Nova" panose="02000506030000020004"/>
                <a:sym typeface="Proxima Nova" panose="02000506030000020004"/>
              </a:rPr>
              <a:t>Abstract</a:t>
            </a:r>
            <a:endParaRPr sz="2400" b="1" dirty="0">
              <a:solidFill>
                <a:schemeClr val="accent1"/>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495758" y="1403875"/>
            <a:ext cx="10900554" cy="4247286"/>
          </a:xfrm>
          <a:prstGeom prst="rect">
            <a:avLst/>
          </a:prstGeom>
          <a:noFill/>
          <a:ln>
            <a:noFill/>
          </a:ln>
        </p:spPr>
        <p:txBody>
          <a:bodyPr spcFirstLastPara="1" wrap="square" lIns="91425" tIns="91425" rIns="91425" bIns="91425" anchor="t" anchorCtr="0">
            <a:spAutoFit/>
          </a:bodyPr>
          <a:lstStyle/>
          <a:p>
            <a:pPr algn="just"/>
            <a:r>
              <a:rPr lang="en-US" sz="2400" dirty="0"/>
              <a:t>Social media platforms are facing a rapid increase in fake and bot accounts. These accounts are often used to spread misinformation, scams, and spam content. Detecting such accounts manually is difficult because social media platforms have millions of users and generate a huge amount of data every day. This project aims to develop an Artificial Intelligence based system to automatically detect fake social media accounts. The system analyzes different features such as user profile information, activity patterns, followers, and engagement behavior. Machine learning algorithms like Random Forest, Support Vector Machine (SVM), and </a:t>
            </a:r>
            <a:r>
              <a:rPr lang="en-US" sz="2400" dirty="0" err="1"/>
              <a:t>XGBoost</a:t>
            </a:r>
            <a:r>
              <a:rPr lang="en-US" sz="2400" dirty="0"/>
              <a:t> will be used to classify accounts as real or fake. The main goal of this system is to improve detection accuracy and help create a safer and more reliable social media environment.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72760" y="367314"/>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smtClean="0">
                <a:solidFill>
                  <a:schemeClr val="accent1"/>
                </a:solidFill>
                <a:latin typeface="Proxima Nova" panose="02000506030000020004"/>
                <a:ea typeface="Proxima Nova" panose="02000506030000020004"/>
                <a:cs typeface="Proxima Nova" panose="02000506030000020004"/>
                <a:sym typeface="Proxima Nova" panose="02000506030000020004"/>
              </a:rPr>
              <a:t>Introduction</a:t>
            </a:r>
            <a:endParaRPr sz="2400" b="1" dirty="0">
              <a:solidFill>
                <a:schemeClr val="accent1"/>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84614" y="1317248"/>
            <a:ext cx="8757769" cy="5616892"/>
          </a:xfrm>
          <a:prstGeom prst="rect">
            <a:avLst/>
          </a:prstGeom>
          <a:noFill/>
          <a:ln>
            <a:noFill/>
          </a:ln>
        </p:spPr>
        <p:txBody>
          <a:bodyPr spcFirstLastPara="1" wrap="square" lIns="91425" tIns="91425" rIns="91425" bIns="91425" anchor="t" anchorCtr="0">
            <a:spAutoFit/>
          </a:bodyPr>
          <a:lstStyle/>
          <a:p>
            <a:pPr algn="just"/>
            <a:r>
              <a:rPr lang="en-US" sz="2400" dirty="0">
                <a:latin typeface="+mj-lt"/>
              </a:rPr>
              <a:t>• Social media platforms contain billions of user accounts worldwide</a:t>
            </a:r>
            <a:r>
              <a:rPr lang="en-US" sz="2400" dirty="0" smtClean="0">
                <a:latin typeface="+mj-lt"/>
              </a:rPr>
              <a:t>.</a:t>
            </a:r>
          </a:p>
          <a:p>
            <a:pPr algn="just"/>
            <a:endParaRPr lang="en-US" sz="2400" dirty="0">
              <a:latin typeface="+mj-lt"/>
            </a:endParaRPr>
          </a:p>
          <a:p>
            <a:pPr algn="just"/>
            <a:r>
              <a:rPr lang="en-US" sz="2400" dirty="0">
                <a:latin typeface="+mj-lt"/>
              </a:rPr>
              <a:t>• Many accounts are </a:t>
            </a:r>
            <a:r>
              <a:rPr lang="en-US" sz="2400" b="1" dirty="0">
                <a:latin typeface="+mj-lt"/>
              </a:rPr>
              <a:t>fake or bot accounts</a:t>
            </a:r>
            <a:r>
              <a:rPr lang="en-US" sz="2400" dirty="0">
                <a:latin typeface="+mj-lt"/>
              </a:rPr>
              <a:t> created for spam, scams, and </a:t>
            </a:r>
            <a:r>
              <a:rPr lang="en-US" sz="2400" dirty="0" smtClean="0">
                <a:latin typeface="+mj-lt"/>
              </a:rPr>
              <a:t>misinformation.</a:t>
            </a:r>
          </a:p>
          <a:p>
            <a:pPr algn="just"/>
            <a:endParaRPr lang="en-US" sz="2400" dirty="0">
              <a:latin typeface="+mj-lt"/>
            </a:endParaRPr>
          </a:p>
          <a:p>
            <a:pPr algn="just"/>
            <a:r>
              <a:rPr lang="en-US" sz="2400" dirty="0">
                <a:latin typeface="+mj-lt"/>
              </a:rPr>
              <a:t>• Fake accounts can manipulate public opinion and influence online discussions</a:t>
            </a:r>
            <a:r>
              <a:rPr lang="en-US" sz="2400" dirty="0" smtClean="0">
                <a:latin typeface="+mj-lt"/>
              </a:rPr>
              <a:t>.</a:t>
            </a:r>
          </a:p>
          <a:p>
            <a:pPr algn="just"/>
            <a:endParaRPr lang="en-US" sz="2400" dirty="0">
              <a:latin typeface="+mj-lt"/>
            </a:endParaRPr>
          </a:p>
          <a:p>
            <a:pPr algn="just"/>
            <a:r>
              <a:rPr lang="en-US" sz="2400" dirty="0">
                <a:latin typeface="+mj-lt"/>
              </a:rPr>
              <a:t>• Manual detection of fake accounts is difficult due to the huge volume of data</a:t>
            </a:r>
            <a:r>
              <a:rPr lang="en-US" sz="2400" dirty="0" smtClean="0">
                <a:latin typeface="+mj-lt"/>
              </a:rPr>
              <a:t>.</a:t>
            </a:r>
          </a:p>
          <a:p>
            <a:pPr algn="just"/>
            <a:endParaRPr lang="en-US" sz="2400" dirty="0">
              <a:latin typeface="+mj-lt"/>
            </a:endParaRPr>
          </a:p>
          <a:p>
            <a:pPr algn="just"/>
            <a:r>
              <a:rPr lang="en-US" sz="2400" dirty="0">
                <a:latin typeface="+mj-lt"/>
              </a:rPr>
              <a:t>• Artificial Intelligence and Machine Learning can help detect fake accounts automatically.</a:t>
            </a:r>
          </a:p>
          <a:p>
            <a:pPr marR="0" lvl="0" algn="just" rtl="0">
              <a:spcBef>
                <a:spcPts val="0"/>
              </a:spcBef>
              <a:spcAft>
                <a:spcPts val="0"/>
              </a:spcAft>
              <a:buClr>
                <a:srgbClr val="000000"/>
              </a:buClr>
              <a:buSzPts val="1700"/>
            </a:pPr>
            <a:endParaRPr lang="en-US" sz="1700" b="0" i="0" u="none" strike="noStrike" cap="none" dirty="0">
              <a:solidFill>
                <a:srgbClr val="666666"/>
              </a:solidFill>
              <a:latin typeface="+mj-lt"/>
              <a:ea typeface="Proxima Nova" panose="02000506030000020004"/>
              <a:cs typeface="Proxima Nova" panose="02000506030000020004"/>
              <a:sym typeface="Proxima Nova" panose="02000506030000020004"/>
            </a:endParaRPr>
          </a:p>
        </p:txBody>
      </p:sp>
    </p:spTree>
    <p:extLst>
      <p:ext uri="{BB962C8B-B14F-4D97-AF65-F5344CB8AC3E}">
        <p14:creationId xmlns:p14="http://schemas.microsoft.com/office/powerpoint/2010/main" val="1774770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921210"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smtClean="0">
                <a:solidFill>
                  <a:schemeClr val="accent1"/>
                </a:solidFill>
                <a:latin typeface="Proxima Nova" panose="02000506030000020004"/>
                <a:ea typeface="Proxima Nova" panose="02000506030000020004"/>
                <a:cs typeface="Proxima Nova" panose="02000506030000020004"/>
                <a:sym typeface="Proxima Nova" panose="02000506030000020004"/>
              </a:rPr>
              <a:t>Problem Statement</a:t>
            </a:r>
            <a:endParaRPr sz="2400" b="1" dirty="0">
              <a:solidFill>
                <a:schemeClr val="accent1">
                  <a:lumMod val="60000"/>
                  <a:lumOff val="40000"/>
                </a:schemeClr>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447632" y="1422144"/>
            <a:ext cx="11285564" cy="4616618"/>
          </a:xfrm>
          <a:prstGeom prst="rect">
            <a:avLst/>
          </a:prstGeom>
          <a:noFill/>
          <a:ln>
            <a:noFill/>
          </a:ln>
        </p:spPr>
        <p:txBody>
          <a:bodyPr spcFirstLastPara="1" wrap="square" lIns="91425" tIns="91425" rIns="91425" bIns="91425" anchor="t" anchorCtr="0">
            <a:spAutoFit/>
          </a:bodyPr>
          <a:lstStyle/>
          <a:p>
            <a:pPr algn="just"/>
            <a:r>
              <a:rPr lang="en-US" sz="2400" dirty="0">
                <a:latin typeface="+mj-lt"/>
              </a:rPr>
              <a:t>• Fake accounts are rapidly increasing on social media platforms</a:t>
            </a:r>
            <a:r>
              <a:rPr lang="en-US" sz="2400" dirty="0" smtClean="0">
                <a:latin typeface="+mj-lt"/>
              </a:rPr>
              <a:t>.</a:t>
            </a:r>
          </a:p>
          <a:p>
            <a:pPr algn="just"/>
            <a:endParaRPr lang="en-US" sz="2400" dirty="0">
              <a:latin typeface="+mj-lt"/>
            </a:endParaRPr>
          </a:p>
          <a:p>
            <a:pPr algn="just"/>
            <a:r>
              <a:rPr lang="en-US" sz="2400" dirty="0">
                <a:latin typeface="+mj-lt"/>
              </a:rPr>
              <a:t>• These accounts are used for spreading misinformation, scams, and fake engagement</a:t>
            </a:r>
            <a:r>
              <a:rPr lang="en-US" sz="2400" dirty="0" smtClean="0">
                <a:latin typeface="+mj-lt"/>
              </a:rPr>
              <a:t>.</a:t>
            </a:r>
          </a:p>
          <a:p>
            <a:pPr algn="just"/>
            <a:endParaRPr lang="en-US" sz="2400" dirty="0">
              <a:latin typeface="+mj-lt"/>
            </a:endParaRPr>
          </a:p>
          <a:p>
            <a:pPr algn="just"/>
            <a:r>
              <a:rPr lang="en-US" sz="2400" dirty="0">
                <a:latin typeface="+mj-lt"/>
              </a:rPr>
              <a:t>• Traditional rule-based detection methods are inefficient and easily bypassed</a:t>
            </a:r>
            <a:r>
              <a:rPr lang="en-US" sz="2400" dirty="0" smtClean="0">
                <a:latin typeface="+mj-lt"/>
              </a:rPr>
              <a:t>.</a:t>
            </a:r>
          </a:p>
          <a:p>
            <a:pPr algn="just"/>
            <a:endParaRPr lang="en-US" sz="2400" dirty="0">
              <a:latin typeface="+mj-lt"/>
            </a:endParaRPr>
          </a:p>
          <a:p>
            <a:pPr algn="just"/>
            <a:r>
              <a:rPr lang="en-US" sz="2400" dirty="0">
                <a:latin typeface="+mj-lt"/>
              </a:rPr>
              <a:t>• Detecting fake accounts manually is time-consuming and not scalable</a:t>
            </a:r>
            <a:r>
              <a:rPr lang="en-US" sz="2400" dirty="0" smtClean="0">
                <a:latin typeface="+mj-lt"/>
              </a:rPr>
              <a:t>.</a:t>
            </a:r>
          </a:p>
          <a:p>
            <a:pPr algn="just"/>
            <a:endParaRPr lang="en-US" sz="2400" dirty="0">
              <a:latin typeface="+mj-lt"/>
            </a:endParaRPr>
          </a:p>
          <a:p>
            <a:pPr algn="just"/>
            <a:r>
              <a:rPr lang="en-US" sz="2400" dirty="0">
                <a:latin typeface="+mj-lt"/>
              </a:rPr>
              <a:t>• Therefore, an </a:t>
            </a:r>
            <a:r>
              <a:rPr lang="en-US" sz="2400" b="1" dirty="0">
                <a:latin typeface="+mj-lt"/>
              </a:rPr>
              <a:t>AI-based automated system is required to identify fake accounts accurately.</a:t>
            </a:r>
            <a:endParaRPr lang="en-US" sz="2400" dirty="0">
              <a:latin typeface="+mj-lt"/>
            </a:endParaRPr>
          </a:p>
          <a:p>
            <a:pPr marR="0" lvl="0" algn="just" rtl="0">
              <a:spcBef>
                <a:spcPts val="0"/>
              </a:spcBef>
              <a:spcAft>
                <a:spcPts val="0"/>
              </a:spcAft>
              <a:buClr>
                <a:srgbClr val="000000"/>
              </a:buClr>
              <a:buSzPts val="1700"/>
            </a:pPr>
            <a:endParaRPr sz="2400" dirty="0">
              <a:solidFill>
                <a:srgbClr val="FF0000"/>
              </a:solidFill>
              <a:latin typeface="+mj-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6" name="Google Shape;106;p4"/>
          <p:cNvSpPr txBox="1"/>
          <p:nvPr/>
        </p:nvSpPr>
        <p:spPr>
          <a:xfrm>
            <a:off x="148943" y="339654"/>
            <a:ext cx="2478756" cy="553968"/>
          </a:xfrm>
          <a:prstGeom prst="rect">
            <a:avLst/>
          </a:prstGeom>
          <a:noFill/>
          <a:ln>
            <a:noFill/>
          </a:ln>
        </p:spPr>
        <p:txBody>
          <a:bodyPr spcFirstLastPara="1" wrap="square" lIns="91425" tIns="91425" rIns="91425" bIns="91425" anchor="t" anchorCtr="0">
            <a:spAutoFit/>
          </a:bodyPr>
          <a:lstStyle/>
          <a:p>
            <a:pPr marR="0" lvl="0" algn="ctr" rtl="0">
              <a:spcBef>
                <a:spcPts val="0"/>
              </a:spcBef>
              <a:spcAft>
                <a:spcPts val="0"/>
              </a:spcAft>
              <a:buClr>
                <a:srgbClr val="000000"/>
              </a:buClr>
              <a:buSzPts val="1700"/>
            </a:pPr>
            <a:r>
              <a:rPr lang="en-US" sz="2400" b="1" dirty="0" smtClean="0">
                <a:solidFill>
                  <a:schemeClr val="accent1"/>
                </a:solidFill>
                <a:latin typeface="Proxima Nova" panose="020B0604020202020204" charset="0"/>
              </a:rPr>
              <a:t>Objective</a:t>
            </a:r>
            <a:endParaRPr sz="2400" b="1" dirty="0">
              <a:solidFill>
                <a:schemeClr val="accent1"/>
              </a:solidFill>
              <a:latin typeface="Proxima Nova" panose="020B0604020202020204" charset="0"/>
            </a:endParaRPr>
          </a:p>
        </p:txBody>
      </p:sp>
      <p:sp>
        <p:nvSpPr>
          <p:cNvPr id="2" name="TextBox 1"/>
          <p:cNvSpPr txBox="1"/>
          <p:nvPr/>
        </p:nvSpPr>
        <p:spPr>
          <a:xfrm>
            <a:off x="664143" y="1270535"/>
            <a:ext cx="9856270" cy="4370427"/>
          </a:xfrm>
          <a:prstGeom prst="rect">
            <a:avLst/>
          </a:prstGeom>
          <a:noFill/>
        </p:spPr>
        <p:txBody>
          <a:bodyPr wrap="square" rtlCol="0">
            <a:spAutoFit/>
          </a:bodyPr>
          <a:lstStyle/>
          <a:p>
            <a:pPr algn="just"/>
            <a:r>
              <a:rPr lang="en-US" sz="2400" dirty="0">
                <a:latin typeface="+mj-lt"/>
              </a:rPr>
              <a:t>• To study existing research on fake account detection</a:t>
            </a:r>
            <a:r>
              <a:rPr lang="en-US" sz="2400" dirty="0" smtClean="0">
                <a:latin typeface="+mj-lt"/>
              </a:rPr>
              <a:t>.</a:t>
            </a:r>
          </a:p>
          <a:p>
            <a:pPr algn="just"/>
            <a:endParaRPr lang="en-US" sz="2400" dirty="0">
              <a:latin typeface="+mj-lt"/>
            </a:endParaRPr>
          </a:p>
          <a:p>
            <a:pPr algn="just"/>
            <a:r>
              <a:rPr lang="en-US" sz="2400" dirty="0">
                <a:latin typeface="+mj-lt"/>
              </a:rPr>
              <a:t>• To analyze different AI and machine learning techniques used for detection</a:t>
            </a:r>
            <a:r>
              <a:rPr lang="en-US" sz="2400" dirty="0" smtClean="0">
                <a:latin typeface="+mj-lt"/>
              </a:rPr>
              <a:t>.</a:t>
            </a:r>
          </a:p>
          <a:p>
            <a:pPr algn="just"/>
            <a:endParaRPr lang="en-US" sz="2400" dirty="0">
              <a:latin typeface="+mj-lt"/>
            </a:endParaRPr>
          </a:p>
          <a:p>
            <a:pPr algn="just"/>
            <a:r>
              <a:rPr lang="en-US" sz="2400" dirty="0">
                <a:latin typeface="+mj-lt"/>
              </a:rPr>
              <a:t>• To identify important features such as user behavior, profile information, and activity patterns</a:t>
            </a:r>
            <a:r>
              <a:rPr lang="en-US" sz="2400" dirty="0" smtClean="0">
                <a:latin typeface="+mj-lt"/>
              </a:rPr>
              <a:t>.</a:t>
            </a:r>
          </a:p>
          <a:p>
            <a:pPr algn="just"/>
            <a:endParaRPr lang="en-US" sz="2400" dirty="0">
              <a:latin typeface="+mj-lt"/>
            </a:endParaRPr>
          </a:p>
          <a:p>
            <a:pPr algn="just"/>
            <a:r>
              <a:rPr lang="en-US" sz="2400" dirty="0">
                <a:latin typeface="+mj-lt"/>
              </a:rPr>
              <a:t>• To design a model capable of detecting fake social media accounts</a:t>
            </a:r>
            <a:r>
              <a:rPr lang="en-US" sz="2400" dirty="0" smtClean="0">
                <a:latin typeface="+mj-lt"/>
              </a:rPr>
              <a:t>.</a:t>
            </a:r>
          </a:p>
          <a:p>
            <a:pPr algn="just"/>
            <a:endParaRPr lang="en-US" sz="2400" dirty="0">
              <a:latin typeface="+mj-lt"/>
            </a:endParaRPr>
          </a:p>
          <a:p>
            <a:pPr algn="just"/>
            <a:r>
              <a:rPr lang="en-US" sz="2400" dirty="0">
                <a:latin typeface="+mj-lt"/>
              </a:rPr>
              <a:t>• To improve detection accuracy using machine learning algorithms.</a:t>
            </a:r>
          </a:p>
          <a:p>
            <a:pPr algn="just"/>
            <a:endParaRPr lang="en-US" dirty="0">
              <a:latin typeface="+mj-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662238386"/>
              </p:ext>
            </p:extLst>
          </p:nvPr>
        </p:nvGraphicFramePr>
        <p:xfrm>
          <a:off x="784318" y="1209882"/>
          <a:ext cx="10376040" cy="5309193"/>
        </p:xfrm>
        <a:graphic>
          <a:graphicData uri="http://schemas.openxmlformats.org/drawingml/2006/table">
            <a:tbl>
              <a:tblPr firstRow="1" bandRow="1">
                <a:tableStyleId>{5C22544A-7EE6-4342-B048-85BDC9FD1C3A}</a:tableStyleId>
              </a:tblPr>
              <a:tblGrid>
                <a:gridCol w="1729340"/>
                <a:gridCol w="2172642"/>
                <a:gridCol w="1803400"/>
                <a:gridCol w="1855403"/>
                <a:gridCol w="1097280"/>
                <a:gridCol w="1717975"/>
              </a:tblGrid>
              <a:tr h="493353">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600247">
                <a:tc>
                  <a:txBody>
                    <a:bodyPr/>
                    <a:lstStyle/>
                    <a:p>
                      <a:pPr algn="just"/>
                      <a:r>
                        <a:rPr lang="en-US" sz="1600" dirty="0" smtClean="0"/>
                        <a:t>[1]</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 Deep learning–based </a:t>
                      </a:r>
                      <a:r>
                        <a:rPr lang="en-US" sz="1600" b="0" i="0" u="none" strike="noStrike" cap="none" dirty="0" err="1" smtClean="0">
                          <a:solidFill>
                            <a:schemeClr val="dk1"/>
                          </a:solidFill>
                          <a:effectLst/>
                          <a:latin typeface="+mn-lt"/>
                          <a:ea typeface="+mn-ea"/>
                          <a:cs typeface="+mn-cs"/>
                          <a:sym typeface="Arial" panose="020B0604020202020204"/>
                        </a:rPr>
                        <a:t>CrossGatedTabular</a:t>
                      </a:r>
                      <a:r>
                        <a:rPr lang="en-US" sz="1600" b="0" i="0" u="none" strike="noStrike" cap="none" dirty="0" smtClean="0">
                          <a:solidFill>
                            <a:schemeClr val="dk1"/>
                          </a:solidFill>
                          <a:effectLst/>
                          <a:latin typeface="+mn-lt"/>
                          <a:ea typeface="+mn-ea"/>
                          <a:cs typeface="+mn-cs"/>
                          <a:sym typeface="Arial" panose="020B0604020202020204"/>
                        </a:rPr>
                        <a:t> (CGT) model is used.</a:t>
                      </a:r>
                    </a:p>
                    <a:p>
                      <a:pPr algn="just"/>
                      <a:r>
                        <a:rPr lang="en-US" sz="1600" b="0" i="0" u="none" strike="noStrike" cap="none" dirty="0" smtClean="0">
                          <a:solidFill>
                            <a:schemeClr val="dk1"/>
                          </a:solidFill>
                          <a:effectLst/>
                          <a:latin typeface="+mn-lt"/>
                          <a:ea typeface="+mn-ea"/>
                          <a:cs typeface="+mn-cs"/>
                          <a:sym typeface="Arial" panose="020B0604020202020204"/>
                        </a:rPr>
                        <a:t>- Profile metadata and activity features are processed, balanced using SMOTE, and classified into real or bot accounts.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Profile-based features outperform text-only methods</a:t>
                      </a:r>
                    </a:p>
                    <a:p>
                      <a:pPr algn="just"/>
                      <a:r>
                        <a:rPr lang="en-US" sz="1600" b="0" i="0" u="none" strike="noStrike" cap="none" dirty="0" smtClean="0">
                          <a:solidFill>
                            <a:schemeClr val="dk1"/>
                          </a:solidFill>
                          <a:effectLst/>
                          <a:latin typeface="+mn-lt"/>
                          <a:ea typeface="+mn-ea"/>
                          <a:cs typeface="+mn-cs"/>
                          <a:sym typeface="Arial" panose="020B0604020202020204"/>
                        </a:rPr>
                        <a:t>- Cross-feature interactions improve bot detection</a:t>
                      </a:r>
                    </a:p>
                    <a:p>
                      <a:pPr algn="just"/>
                      <a:r>
                        <a:rPr lang="en-US" sz="1600" b="0" i="0" u="none" strike="noStrike" cap="none" dirty="0" smtClean="0">
                          <a:solidFill>
                            <a:schemeClr val="dk1"/>
                          </a:solidFill>
                          <a:effectLst/>
                          <a:latin typeface="+mn-lt"/>
                          <a:ea typeface="+mn-ea"/>
                          <a:cs typeface="+mn-cs"/>
                          <a:sym typeface="Arial" panose="020B0604020202020204"/>
                        </a:rPr>
                        <a:t>-</a:t>
                      </a:r>
                      <a:r>
                        <a:rPr lang="en-US" sz="1600" b="0" i="0" u="none" strike="noStrike" cap="none" baseline="0" dirty="0" smtClean="0">
                          <a:solidFill>
                            <a:schemeClr val="dk1"/>
                          </a:solidFill>
                          <a:effectLst/>
                          <a:latin typeface="+mn-lt"/>
                          <a:ea typeface="+mn-ea"/>
                          <a:cs typeface="+mn-cs"/>
                          <a:sym typeface="Arial" panose="020B0604020202020204"/>
                        </a:rPr>
                        <a:t> </a:t>
                      </a:r>
                      <a:r>
                        <a:rPr lang="en-US" sz="1600" b="0" i="0" u="none" strike="noStrike" cap="none" dirty="0" smtClean="0">
                          <a:solidFill>
                            <a:schemeClr val="dk1"/>
                          </a:solidFill>
                          <a:effectLst/>
                          <a:latin typeface="+mn-lt"/>
                          <a:ea typeface="+mn-ea"/>
                          <a:cs typeface="+mn-cs"/>
                          <a:sym typeface="Arial" panose="020B0604020202020204"/>
                        </a:rPr>
                        <a:t>Deep learning gives better generalization</a:t>
                      </a:r>
                      <a:endParaRPr lang="en-US" sz="1600" dirty="0"/>
                    </a:p>
                  </a:txBody>
                  <a:tcPr/>
                </a:tc>
                <a:tc>
                  <a:txBody>
                    <a:bodyPr/>
                    <a:lstStyle/>
                    <a:p>
                      <a:pPr algn="just"/>
                      <a:r>
                        <a:rPr lang="en-US" sz="1600" dirty="0" smtClean="0"/>
                        <a:t>Python, </a:t>
                      </a:r>
                      <a:r>
                        <a:rPr lang="en-US" sz="1600" dirty="0" err="1" smtClean="0"/>
                        <a:t>TensorFlow</a:t>
                      </a:r>
                      <a:r>
                        <a:rPr lang="en-US" sz="1600" dirty="0" smtClean="0"/>
                        <a:t> / </a:t>
                      </a:r>
                      <a:r>
                        <a:rPr lang="en-US" sz="1600" dirty="0" err="1" smtClean="0"/>
                        <a:t>PyTorch</a:t>
                      </a:r>
                      <a:r>
                        <a:rPr lang="en-US" sz="1600" dirty="0" smtClean="0"/>
                        <a:t>, </a:t>
                      </a:r>
                      <a:r>
                        <a:rPr lang="en-US" sz="1600" dirty="0" err="1" smtClean="0"/>
                        <a:t>Scikit</a:t>
                      </a:r>
                      <a:r>
                        <a:rPr lang="en-US" sz="1600" dirty="0" smtClean="0"/>
                        <a:t>-learn</a:t>
                      </a:r>
                    </a:p>
                    <a:p>
                      <a:pPr algn="just"/>
                      <a:r>
                        <a:rPr lang="en-US" sz="1600" b="0" i="0" u="none" strike="noStrike" cap="none" dirty="0" smtClean="0">
                          <a:solidFill>
                            <a:schemeClr val="dk1"/>
                          </a:solidFill>
                          <a:effectLst/>
                          <a:latin typeface="+mn-lt"/>
                          <a:ea typeface="+mn-ea"/>
                          <a:cs typeface="+mn-cs"/>
                          <a:sym typeface="Arial" panose="020B0604020202020204"/>
                        </a:rPr>
                        <a:t>Merged Instagram </a:t>
                      </a:r>
                      <a:r>
                        <a:rPr lang="en-US" sz="1600" b="0" i="0" u="none" strike="noStrike" cap="none" dirty="0" err="1" smtClean="0">
                          <a:solidFill>
                            <a:schemeClr val="dk1"/>
                          </a:solidFill>
                          <a:effectLst/>
                          <a:latin typeface="+mn-lt"/>
                          <a:ea typeface="+mn-ea"/>
                          <a:cs typeface="+mn-cs"/>
                          <a:sym typeface="Arial" panose="020B0604020202020204"/>
                        </a:rPr>
                        <a:t>InstaFake</a:t>
                      </a:r>
                      <a:r>
                        <a:rPr lang="en-US" sz="1600" b="0" i="0" u="none" strike="noStrike" cap="none" dirty="0" smtClean="0">
                          <a:solidFill>
                            <a:schemeClr val="dk1"/>
                          </a:solidFill>
                          <a:effectLst/>
                          <a:latin typeface="+mn-lt"/>
                          <a:ea typeface="+mn-ea"/>
                          <a:cs typeface="+mn-cs"/>
                          <a:sym typeface="Arial" panose="020B0604020202020204"/>
                        </a:rPr>
                        <a:t> + IFSG datasets</a:t>
                      </a:r>
                    </a:p>
                    <a:p>
                      <a:pPr algn="just"/>
                      <a:r>
                        <a:rPr lang="en-US" sz="1600" b="0" i="0" u="none" strike="noStrike" cap="none" dirty="0" smtClean="0">
                          <a:solidFill>
                            <a:schemeClr val="dk1"/>
                          </a:solidFill>
                          <a:effectLst/>
                          <a:latin typeface="+mn-lt"/>
                          <a:ea typeface="+mn-ea"/>
                          <a:cs typeface="+mn-cs"/>
                          <a:sym typeface="Arial" panose="020B0604020202020204"/>
                        </a:rPr>
                        <a:t> </a:t>
                      </a:r>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93.40%</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Dataset limited to Instagram</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High computational cost</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Difficulty with evolving bot behaviors</a:t>
                      </a:r>
                      <a:endParaRPr lang="en-US" sz="1600" dirty="0"/>
                    </a:p>
                  </a:txBody>
                  <a:tcPr/>
                </a:tc>
              </a:tr>
              <a:tr h="600247">
                <a:tc>
                  <a:txBody>
                    <a:bodyPr/>
                    <a:lstStyle/>
                    <a:p>
                      <a:pPr algn="just"/>
                      <a:r>
                        <a:rPr lang="en-US" sz="1600" dirty="0" smtClean="0"/>
                        <a:t>[2]</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Uses Convergent Cross Mapping (CCM) to identify causal coordination among social media accounts instead of simple similarity measures.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 Causal analysis detects hidden coordination</a:t>
                      </a:r>
                    </a:p>
                    <a:p>
                      <a:pPr algn="just"/>
                      <a:r>
                        <a:rPr lang="en-US" sz="1600" b="0" i="0" u="none" strike="noStrike" cap="none" dirty="0" smtClean="0">
                          <a:solidFill>
                            <a:schemeClr val="dk1"/>
                          </a:solidFill>
                          <a:effectLst/>
                          <a:latin typeface="+mn-lt"/>
                          <a:ea typeface="+mn-ea"/>
                          <a:cs typeface="+mn-cs"/>
                          <a:sym typeface="Arial" panose="020B0604020202020204"/>
                        </a:rPr>
                        <a:t>- Reduces false positives</a:t>
                      </a:r>
                    </a:p>
                    <a:p>
                      <a:pPr algn="just"/>
                      <a:r>
                        <a:rPr lang="en-US" sz="1600" b="0" i="0" u="none" strike="noStrike" cap="none" dirty="0" smtClean="0">
                          <a:solidFill>
                            <a:schemeClr val="dk1"/>
                          </a:solidFill>
                          <a:effectLst/>
                          <a:latin typeface="+mn-lt"/>
                          <a:ea typeface="+mn-ea"/>
                          <a:cs typeface="+mn-cs"/>
                          <a:sym typeface="Arial" panose="020B0604020202020204"/>
                        </a:rPr>
                        <a:t>-</a:t>
                      </a:r>
                      <a:r>
                        <a:rPr lang="en-US" sz="1600" b="0" i="0" u="none" strike="noStrike" cap="none" baseline="0" dirty="0" smtClean="0">
                          <a:solidFill>
                            <a:schemeClr val="dk1"/>
                          </a:solidFill>
                          <a:effectLst/>
                          <a:latin typeface="+mn-lt"/>
                          <a:ea typeface="+mn-ea"/>
                          <a:cs typeface="+mn-cs"/>
                          <a:sym typeface="Arial" panose="020B0604020202020204"/>
                        </a:rPr>
                        <a:t> </a:t>
                      </a:r>
                      <a:r>
                        <a:rPr lang="en-US" sz="1600" b="0" i="0" u="none" strike="noStrike" cap="none" dirty="0" smtClean="0">
                          <a:solidFill>
                            <a:schemeClr val="dk1"/>
                          </a:solidFill>
                          <a:effectLst/>
                          <a:latin typeface="+mn-lt"/>
                          <a:ea typeface="+mn-ea"/>
                          <a:cs typeface="+mn-cs"/>
                          <a:sym typeface="Arial" panose="020B0604020202020204"/>
                        </a:rPr>
                        <a:t>Better than correlation-based methods</a:t>
                      </a:r>
                      <a:endParaRPr lang="en-US" sz="1600" dirty="0"/>
                    </a:p>
                  </a:txBody>
                  <a:tcPr/>
                </a:tc>
                <a:tc>
                  <a:txBody>
                    <a:bodyPr/>
                    <a:lstStyle/>
                    <a:p>
                      <a:pPr algn="just"/>
                      <a:r>
                        <a:rPr lang="en-US" sz="1600" dirty="0" smtClean="0"/>
                        <a:t>Python, </a:t>
                      </a:r>
                      <a:r>
                        <a:rPr lang="en-US" sz="1600" dirty="0" err="1" smtClean="0"/>
                        <a:t>NetworkX</a:t>
                      </a:r>
                      <a:r>
                        <a:rPr lang="en-US" sz="1600" dirty="0" smtClean="0"/>
                        <a:t>, Pandas.</a:t>
                      </a:r>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Twitter datasets including IRA influence operation data</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Around 85–88%</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Computationally expensive</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Needs large temporal data</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Not real-time friendly</a:t>
                      </a:r>
                      <a:endParaRPr lang="en-US" sz="1600" dirty="0"/>
                    </a:p>
                  </a:txBody>
                  <a:tcPr/>
                </a:tc>
              </a:tr>
            </a:tbl>
          </a:graphicData>
        </a:graphic>
      </p:graphicFrame>
    </p:spTree>
    <p:extLst>
      <p:ext uri="{BB962C8B-B14F-4D97-AF65-F5344CB8AC3E}">
        <p14:creationId xmlns:p14="http://schemas.microsoft.com/office/powerpoint/2010/main" val="37769663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611265562"/>
              </p:ext>
            </p:extLst>
          </p:nvPr>
        </p:nvGraphicFramePr>
        <p:xfrm>
          <a:off x="784318" y="1209882"/>
          <a:ext cx="10376040" cy="5254417"/>
        </p:xfrm>
        <a:graphic>
          <a:graphicData uri="http://schemas.openxmlformats.org/drawingml/2006/table">
            <a:tbl>
              <a:tblPr firstRow="1" bandRow="1">
                <a:tableStyleId>{5C22544A-7EE6-4342-B048-85BDC9FD1C3A}</a:tableStyleId>
              </a:tblPr>
              <a:tblGrid>
                <a:gridCol w="1729340"/>
                <a:gridCol w="2172642"/>
                <a:gridCol w="2108200"/>
                <a:gridCol w="1435100"/>
                <a:gridCol w="1201418"/>
                <a:gridCol w="1729340"/>
              </a:tblGrid>
              <a:tr h="511767">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2371325">
                <a:tc>
                  <a:txBody>
                    <a:bodyPr/>
                    <a:lstStyle/>
                    <a:p>
                      <a:pPr algn="just"/>
                      <a:r>
                        <a:rPr lang="en-US" sz="1600" dirty="0" smtClean="0"/>
                        <a:t>[3]</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Uses semi-supervised machine learning with limited labeled data and large unlabeled data to detect fake accounts efficiently.</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Reduces manual labeling effort by up to 70%</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Maintains high detection accuracy</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Efficient for large datasets</a:t>
                      </a:r>
                      <a:endParaRPr lang="en-US" sz="1600" dirty="0"/>
                    </a:p>
                  </a:txBody>
                  <a:tcPr/>
                </a:tc>
                <a:tc>
                  <a:txBody>
                    <a:bodyPr/>
                    <a:lstStyle/>
                    <a:p>
                      <a:pPr algn="just"/>
                      <a:r>
                        <a:rPr lang="en-US" sz="1600" dirty="0" smtClean="0"/>
                        <a:t>Python, </a:t>
                      </a:r>
                      <a:r>
                        <a:rPr lang="en-US" sz="1600" dirty="0" err="1" smtClean="0"/>
                        <a:t>Scikit</a:t>
                      </a:r>
                      <a:r>
                        <a:rPr lang="en-US" sz="1600" dirty="0" smtClean="0"/>
                        <a:t>-learn, </a:t>
                      </a:r>
                      <a:r>
                        <a:rPr lang="en-US" sz="1600" dirty="0" err="1" smtClean="0"/>
                        <a:t>TensorFlow</a:t>
                      </a:r>
                      <a:endParaRPr lang="en-US" sz="1600" dirty="0" smtClean="0"/>
                    </a:p>
                    <a:p>
                      <a:pPr algn="just"/>
                      <a:endParaRPr lang="en-US" sz="1600" dirty="0" smtClean="0"/>
                    </a:p>
                    <a:p>
                      <a:pPr algn="just"/>
                      <a:r>
                        <a:rPr lang="en-US" sz="1600" b="0" i="0" u="none" strike="noStrike" cap="none" dirty="0" smtClean="0">
                          <a:solidFill>
                            <a:schemeClr val="dk1"/>
                          </a:solidFill>
                          <a:effectLst/>
                          <a:latin typeface="+mn-lt"/>
                          <a:ea typeface="+mn-ea"/>
                          <a:cs typeface="+mn-cs"/>
                          <a:sym typeface="Arial" panose="020B0604020202020204"/>
                        </a:rPr>
                        <a:t>Twitter and Reddit public datasets with partial labels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Approximately </a:t>
                      </a:r>
                    </a:p>
                    <a:p>
                      <a:pPr algn="just"/>
                      <a:r>
                        <a:rPr lang="en-US" sz="1600" b="0" i="0" u="none" strike="noStrike" cap="none" dirty="0" smtClean="0">
                          <a:solidFill>
                            <a:schemeClr val="dk1"/>
                          </a:solidFill>
                          <a:effectLst/>
                          <a:latin typeface="+mn-lt"/>
                          <a:ea typeface="+mn-ea"/>
                          <a:cs typeface="+mn-cs"/>
                          <a:sym typeface="Arial" panose="020B0604020202020204"/>
                        </a:rPr>
                        <a:t>86–89%</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Initial labeled data still required</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Performance drops if labels are noisy</a:t>
                      </a:r>
                      <a:endParaRPr lang="en-US" sz="1600" dirty="0"/>
                    </a:p>
                  </a:txBody>
                  <a:tcPr/>
                </a:tc>
              </a:tr>
              <a:tr h="2371325">
                <a:tc>
                  <a:txBody>
                    <a:bodyPr/>
                    <a:lstStyle/>
                    <a:p>
                      <a:pPr algn="just"/>
                      <a:r>
                        <a:rPr lang="en-US" sz="1600" dirty="0" smtClean="0"/>
                        <a:t>[4]</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Traditional ML models (Random Forest, SVM) combined with behavioral and content-based features.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Behavioral features are more reliable</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ML improves detection over manual rules</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Feature engineering is critical</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Benchmark social media datasets (Twitter, Instagram)</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dirty="0" smtClean="0"/>
                        <a:t>Python, </a:t>
                      </a:r>
                      <a:r>
                        <a:rPr lang="en-US" sz="1600" dirty="0" err="1" smtClean="0"/>
                        <a:t>Scikit</a:t>
                      </a:r>
                      <a:r>
                        <a:rPr lang="en-US" sz="1600" dirty="0" smtClean="0"/>
                        <a:t>-learn</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80–85%</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Lower accuracy than deep learning</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Manual feature dependency</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Platform-specific models</a:t>
                      </a:r>
                      <a:endParaRPr lang="en-US" sz="1600" dirty="0"/>
                    </a:p>
                  </a:txBody>
                  <a:tcPr/>
                </a:tc>
              </a:tr>
            </a:tbl>
          </a:graphicData>
        </a:graphic>
      </p:graphicFrame>
    </p:spTree>
    <p:extLst>
      <p:ext uri="{BB962C8B-B14F-4D97-AF65-F5344CB8AC3E}">
        <p14:creationId xmlns:p14="http://schemas.microsoft.com/office/powerpoint/2010/main" val="4252718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446277028"/>
              </p:ext>
            </p:extLst>
          </p:nvPr>
        </p:nvGraphicFramePr>
        <p:xfrm>
          <a:off x="784318" y="1209882"/>
          <a:ext cx="10376040" cy="5309193"/>
        </p:xfrm>
        <a:graphic>
          <a:graphicData uri="http://schemas.openxmlformats.org/drawingml/2006/table">
            <a:tbl>
              <a:tblPr firstRow="1" bandRow="1">
                <a:tableStyleId>{5C22544A-7EE6-4342-B048-85BDC9FD1C3A}</a:tableStyleId>
              </a:tblPr>
              <a:tblGrid>
                <a:gridCol w="1729340"/>
                <a:gridCol w="2172642"/>
                <a:gridCol w="2120900"/>
                <a:gridCol w="1371600"/>
                <a:gridCol w="1252218"/>
                <a:gridCol w="1729340"/>
              </a:tblGrid>
              <a:tr h="493353">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600247">
                <a:tc>
                  <a:txBody>
                    <a:bodyPr/>
                    <a:lstStyle/>
                    <a:p>
                      <a:pPr algn="just"/>
                      <a:r>
                        <a:rPr lang="en-US" sz="1600" dirty="0" smtClean="0"/>
                        <a:t>[5]</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collect user profile, behavior, and text data</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Extract features using NLP and activity pattern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 Train ML models ( Random forest, SVM) for classification</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Behavioral and text features improve detection </a:t>
                      </a:r>
                    </a:p>
                    <a:p>
                      <a:pPr algn="just"/>
                      <a:r>
                        <a:rPr lang="en-US" sz="1600" b="0" i="0" u="none" strike="noStrike" cap="none" dirty="0" smtClean="0">
                          <a:solidFill>
                            <a:schemeClr val="dk1"/>
                          </a:solidFill>
                          <a:effectLst/>
                          <a:latin typeface="+mn-lt"/>
                          <a:ea typeface="+mn-ea"/>
                          <a:cs typeface="+mn-cs"/>
                          <a:sym typeface="Arial" panose="020B0604020202020204"/>
                        </a:rPr>
                        <a:t> Random Forest performs best.</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 NLP helps identify fake profiles.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50,000+ social media profiles</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Features : followers, posts, bio, engagement</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Random Forest : 89%</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Requires label data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Difficulty detecting new fake accounts</a:t>
                      </a:r>
                      <a:endParaRPr lang="en-US" sz="1600" dirty="0"/>
                    </a:p>
                  </a:txBody>
                  <a:tcPr/>
                </a:tc>
              </a:tr>
              <a:tr h="600247">
                <a:tc>
                  <a:txBody>
                    <a:bodyPr/>
                    <a:lstStyle/>
                    <a:p>
                      <a:pPr algn="just"/>
                      <a:r>
                        <a:rPr lang="en-US" sz="1600" dirty="0" smtClean="0"/>
                        <a:t>[6]</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Use image datasets of real and fake content </a:t>
                      </a:r>
                    </a:p>
                    <a:p>
                      <a:pPr algn="just"/>
                      <a:r>
                        <a:rPr lang="en-US" sz="1600" b="0" i="0" u="none" strike="noStrike" cap="none" dirty="0" smtClean="0">
                          <a:solidFill>
                            <a:schemeClr val="dk1"/>
                          </a:solidFill>
                          <a:effectLst/>
                          <a:latin typeface="+mn-lt"/>
                          <a:ea typeface="+mn-ea"/>
                          <a:cs typeface="+mn-cs"/>
                          <a:sym typeface="Arial" panose="020B0604020202020204"/>
                        </a:rPr>
                        <a:t>Apply transfer learning on CNN models.</a:t>
                      </a:r>
                    </a:p>
                    <a:p>
                      <a:pPr algn="just"/>
                      <a:r>
                        <a:rPr lang="en-US" sz="1600" b="0" i="0" u="none" strike="noStrike" cap="none" dirty="0" smtClean="0">
                          <a:solidFill>
                            <a:schemeClr val="dk1"/>
                          </a:solidFill>
                          <a:effectLst/>
                          <a:latin typeface="+mn-lt"/>
                          <a:ea typeface="+mn-ea"/>
                          <a:cs typeface="+mn-cs"/>
                          <a:sym typeface="Arial" panose="020B0604020202020204"/>
                        </a:rPr>
                        <a:t>classify images as real or fake.</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Deep learning outperforms ML</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Transfer learning increases- </a:t>
                      </a:r>
                      <a:r>
                        <a:rPr lang="en-US" sz="1600" b="0" i="0" u="none" strike="noStrike" cap="none" dirty="0" err="1" smtClean="0">
                          <a:solidFill>
                            <a:schemeClr val="dk1"/>
                          </a:solidFill>
                          <a:effectLst/>
                          <a:latin typeface="+mn-lt"/>
                          <a:ea typeface="+mn-ea"/>
                          <a:cs typeface="+mn-cs"/>
                          <a:sym typeface="Arial" panose="020B0604020202020204"/>
                        </a:rPr>
                        <a:t>ассuracy</a:t>
                      </a:r>
                      <a:r>
                        <a:rPr lang="en-US" sz="1600" b="0" i="0" u="none" strike="noStrike" cap="none" dirty="0" smtClean="0">
                          <a:solidFill>
                            <a:schemeClr val="dk1"/>
                          </a:solidFill>
                          <a:effectLst/>
                          <a:latin typeface="+mn-lt"/>
                          <a:ea typeface="+mn-ea"/>
                          <a:cs typeface="+mn-cs"/>
                          <a:sym typeface="Arial" panose="020B0604020202020204"/>
                        </a:rPr>
                        <a:t>.</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Detects AI-generated fake images.</a:t>
                      </a:r>
                      <a:endParaRPr lang="en-US" sz="1600" dirty="0"/>
                    </a:p>
                  </a:txBody>
                  <a:tcPr/>
                </a:tc>
                <a:tc>
                  <a:txBody>
                    <a:bodyPr/>
                    <a:lstStyle/>
                    <a:p>
                      <a:pPr algn="just"/>
                      <a:r>
                        <a:rPr lang="en-US" sz="1600" b="0" i="0" u="none" strike="noStrike" cap="none" dirty="0" err="1" smtClean="0">
                          <a:solidFill>
                            <a:schemeClr val="dk1"/>
                          </a:solidFill>
                          <a:effectLst/>
                          <a:latin typeface="+mn-lt"/>
                          <a:ea typeface="+mn-ea"/>
                          <a:cs typeface="+mn-cs"/>
                          <a:sym typeface="Arial" panose="020B0604020202020204"/>
                        </a:rPr>
                        <a:t>Kaggle</a:t>
                      </a:r>
                      <a:r>
                        <a:rPr lang="en-US" sz="1600" b="0" i="0" u="none" strike="noStrike" cap="none" dirty="0" smtClean="0">
                          <a:solidFill>
                            <a:schemeClr val="dk1"/>
                          </a:solidFill>
                          <a:effectLst/>
                          <a:latin typeface="+mn-lt"/>
                          <a:ea typeface="+mn-ea"/>
                          <a:cs typeface="+mn-cs"/>
                          <a:sym typeface="Arial" panose="020B0604020202020204"/>
                        </a:rPr>
                        <a:t> </a:t>
                      </a:r>
                      <a:r>
                        <a:rPr lang="en-US" sz="1600" b="0" i="0" u="none" strike="noStrike" cap="none" dirty="0" err="1" smtClean="0">
                          <a:solidFill>
                            <a:schemeClr val="dk1"/>
                          </a:solidFill>
                          <a:effectLst/>
                          <a:latin typeface="+mn-lt"/>
                          <a:ea typeface="+mn-ea"/>
                          <a:cs typeface="+mn-cs"/>
                          <a:sym typeface="Arial" panose="020B0604020202020204"/>
                        </a:rPr>
                        <a:t>Deepfake</a:t>
                      </a:r>
                      <a:r>
                        <a:rPr lang="en-US" sz="1600" b="0" i="0" u="none" strike="noStrike" cap="none" dirty="0" smtClean="0">
                          <a:solidFill>
                            <a:schemeClr val="dk1"/>
                          </a:solidFill>
                          <a:effectLst/>
                          <a:latin typeface="+mn-lt"/>
                          <a:ea typeface="+mn-ea"/>
                          <a:cs typeface="+mn-cs"/>
                          <a:sym typeface="Arial" panose="020B0604020202020204"/>
                        </a:rPr>
                        <a:t> image dataset .</a:t>
                      </a:r>
                    </a:p>
                    <a:p>
                      <a:pPr algn="just"/>
                      <a:r>
                        <a:rPr lang="en-US" sz="1600" b="0" i="0" u="none" strike="noStrike" cap="none" dirty="0" smtClean="0">
                          <a:solidFill>
                            <a:schemeClr val="dk1"/>
                          </a:solidFill>
                          <a:effectLst/>
                          <a:latin typeface="+mn-lt"/>
                          <a:ea typeface="+mn-ea"/>
                          <a:cs typeface="+mn-cs"/>
                          <a:sym typeface="Arial" panose="020B0604020202020204"/>
                        </a:rPr>
                        <a:t>Real und A7-genebuted images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Efficient Net -B3 : 97-98 %</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High computational cost.</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 Ignores user behavior</a:t>
                      </a:r>
                      <a:endParaRPr lang="en-US" sz="1600" dirty="0"/>
                    </a:p>
                  </a:txBody>
                  <a:tcPr/>
                </a:tc>
              </a:tr>
            </a:tbl>
          </a:graphicData>
        </a:graphic>
      </p:graphicFrame>
    </p:spTree>
    <p:extLst>
      <p:ext uri="{BB962C8B-B14F-4D97-AF65-F5344CB8AC3E}">
        <p14:creationId xmlns:p14="http://schemas.microsoft.com/office/powerpoint/2010/main" val="2600232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4087729348"/>
              </p:ext>
            </p:extLst>
          </p:nvPr>
        </p:nvGraphicFramePr>
        <p:xfrm>
          <a:off x="784318" y="1209882"/>
          <a:ext cx="10376040" cy="5142791"/>
        </p:xfrm>
        <a:graphic>
          <a:graphicData uri="http://schemas.openxmlformats.org/drawingml/2006/table">
            <a:tbl>
              <a:tblPr firstRow="1" bandRow="1">
                <a:tableStyleId>{5C22544A-7EE6-4342-B048-85BDC9FD1C3A}</a:tableStyleId>
              </a:tblPr>
              <a:tblGrid>
                <a:gridCol w="1729340"/>
                <a:gridCol w="2172642"/>
                <a:gridCol w="2120900"/>
                <a:gridCol w="1371600"/>
                <a:gridCol w="1252218"/>
                <a:gridCol w="1729340"/>
              </a:tblGrid>
              <a:tr h="526227">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2438326">
                <a:tc>
                  <a:txBody>
                    <a:bodyPr/>
                    <a:lstStyle/>
                    <a:p>
                      <a:pPr algn="just"/>
                      <a:r>
                        <a:rPr lang="en-US" sz="1600" dirty="0" smtClean="0"/>
                        <a:t>[7]</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Analyze user behavior and interaction pattern.</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Build social network graphs.</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Train ML models for detection</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Network analysis detects fake account groups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Behavioral features improve accuracy.</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Ensemble models perform better.</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Twitter and </a:t>
                      </a:r>
                      <a:r>
                        <a:rPr lang="en-US" sz="1600" b="0" i="0" u="none" strike="noStrike" cap="none" dirty="0" err="1" smtClean="0">
                          <a:solidFill>
                            <a:schemeClr val="dk1"/>
                          </a:solidFill>
                          <a:effectLst/>
                          <a:latin typeface="+mn-lt"/>
                          <a:ea typeface="+mn-ea"/>
                          <a:cs typeface="+mn-cs"/>
                          <a:sym typeface="Arial" panose="020B0604020202020204"/>
                        </a:rPr>
                        <a:t>facebook</a:t>
                      </a:r>
                      <a:r>
                        <a:rPr lang="en-US" sz="1600" b="0" i="0" u="none" strike="noStrike" cap="none" dirty="0" smtClean="0">
                          <a:solidFill>
                            <a:schemeClr val="dk1"/>
                          </a:solidFill>
                          <a:effectLst/>
                          <a:latin typeface="+mn-lt"/>
                          <a:ea typeface="+mn-ea"/>
                          <a:cs typeface="+mn-cs"/>
                          <a:sym typeface="Arial" panose="020B0604020202020204"/>
                        </a:rPr>
                        <a:t> API data.</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20,000+ user accounts </a:t>
                      </a:r>
                      <a:endParaRPr lang="en-US" sz="1600" dirty="0"/>
                    </a:p>
                  </a:txBody>
                  <a:tcPr/>
                </a:tc>
                <a:tc>
                  <a:txBody>
                    <a:bodyPr/>
                    <a:lstStyle/>
                    <a:p>
                      <a:pPr algn="just"/>
                      <a:r>
                        <a:rPr lang="en-US" sz="1600" b="0" i="0" u="none" strike="noStrike" cap="none" dirty="0" err="1" smtClean="0">
                          <a:solidFill>
                            <a:schemeClr val="dk1"/>
                          </a:solidFill>
                          <a:effectLst/>
                          <a:latin typeface="+mn-lt"/>
                          <a:ea typeface="+mn-ea"/>
                          <a:cs typeface="+mn-cs"/>
                          <a:sym typeface="Arial" panose="020B0604020202020204"/>
                        </a:rPr>
                        <a:t>XGBoost</a:t>
                      </a:r>
                      <a:r>
                        <a:rPr lang="en-US" sz="1600" b="0" i="0" u="none" strike="noStrike" cap="none" dirty="0" smtClean="0">
                          <a:solidFill>
                            <a:schemeClr val="dk1"/>
                          </a:solidFill>
                          <a:effectLst/>
                          <a:latin typeface="+mn-lt"/>
                          <a:ea typeface="+mn-ea"/>
                          <a:cs typeface="+mn-cs"/>
                          <a:sym typeface="Arial" panose="020B0604020202020204"/>
                        </a:rPr>
                        <a:t> = 93.4%</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API access limits.</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High processing cost.</a:t>
                      </a:r>
                      <a:endParaRPr lang="en-US" sz="1600" dirty="0"/>
                    </a:p>
                  </a:txBody>
                  <a:tcPr/>
                </a:tc>
              </a:tr>
              <a:tr h="2178238">
                <a:tc>
                  <a:txBody>
                    <a:bodyPr/>
                    <a:lstStyle/>
                    <a:p>
                      <a:pPr algn="just"/>
                      <a:r>
                        <a:rPr lang="en-US" sz="1600" dirty="0" smtClean="0"/>
                        <a:t>[8]</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Extract profile and activity features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Apply AI classification algorithms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Identify fake and genuine accounts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Profile activity is a key indicator</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Ensemble models give better results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Account age affects detection</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Twitter bot datasets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30,000+ profiles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Random Forest 91%</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Poor performance on new accounts </a:t>
                      </a:r>
                    </a:p>
                    <a:p>
                      <a:pPr algn="just"/>
                      <a:r>
                        <a:rPr lang="en-US" sz="1600" b="0" i="0" u="none" strike="noStrike" cap="none" dirty="0" smtClean="0">
                          <a:solidFill>
                            <a:schemeClr val="dk1"/>
                          </a:solidFill>
                          <a:effectLst/>
                          <a:latin typeface="+mn-lt"/>
                          <a:ea typeface="+mn-ea"/>
                          <a:cs typeface="+mn-cs"/>
                          <a:sym typeface="Arial" panose="020B0604020202020204"/>
                        </a:rPr>
                        <a:t> </a:t>
                      </a:r>
                    </a:p>
                    <a:p>
                      <a:pPr algn="just"/>
                      <a:r>
                        <a:rPr lang="en-US" sz="1600" b="0" i="0" u="none" strike="noStrike" cap="none" dirty="0" smtClean="0">
                          <a:solidFill>
                            <a:schemeClr val="dk1"/>
                          </a:solidFill>
                          <a:effectLst/>
                          <a:latin typeface="+mn-lt"/>
                          <a:ea typeface="+mn-ea"/>
                          <a:cs typeface="+mn-cs"/>
                          <a:sym typeface="Arial" panose="020B0604020202020204"/>
                        </a:rPr>
                        <a:t>Limited deep learning usage</a:t>
                      </a:r>
                      <a:endParaRPr lang="en-US" sz="1600" dirty="0"/>
                    </a:p>
                  </a:txBody>
                  <a:tcPr/>
                </a:tc>
              </a:tr>
            </a:tbl>
          </a:graphicData>
        </a:graphic>
      </p:graphicFrame>
    </p:spTree>
    <p:extLst>
      <p:ext uri="{BB962C8B-B14F-4D97-AF65-F5344CB8AC3E}">
        <p14:creationId xmlns:p14="http://schemas.microsoft.com/office/powerpoint/2010/main" val="26795248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862458259"/>
              </p:ext>
            </p:extLst>
          </p:nvPr>
        </p:nvGraphicFramePr>
        <p:xfrm>
          <a:off x="784318" y="1209882"/>
          <a:ext cx="10376040" cy="5309193"/>
        </p:xfrm>
        <a:graphic>
          <a:graphicData uri="http://schemas.openxmlformats.org/drawingml/2006/table">
            <a:tbl>
              <a:tblPr firstRow="1" bandRow="1">
                <a:tableStyleId>{5C22544A-7EE6-4342-B048-85BDC9FD1C3A}</a:tableStyleId>
              </a:tblPr>
              <a:tblGrid>
                <a:gridCol w="1729340"/>
                <a:gridCol w="2172642"/>
                <a:gridCol w="2120900"/>
                <a:gridCol w="1371600"/>
                <a:gridCol w="1252218"/>
                <a:gridCol w="1729340"/>
              </a:tblGrid>
              <a:tr h="493353">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600247">
                <a:tc>
                  <a:txBody>
                    <a:bodyPr/>
                    <a:lstStyle/>
                    <a:p>
                      <a:pPr algn="just"/>
                      <a:r>
                        <a:rPr lang="en-US" sz="1600" dirty="0" smtClean="0"/>
                        <a:t>[9]</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The study uses visual analysis of profile pictures generated by GANs. Facial features such as eye alignment, symmetry, and image artifacts are examined to detect fake accounts.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 AI-generated faces are highly realistic</a:t>
                      </a:r>
                    </a:p>
                    <a:p>
                      <a:pPr algn="just"/>
                      <a:r>
                        <a:rPr lang="en-US" sz="1600" b="0" i="0" u="none" strike="noStrike" cap="none" dirty="0" smtClean="0">
                          <a:solidFill>
                            <a:schemeClr val="dk1"/>
                          </a:solidFill>
                          <a:effectLst/>
                          <a:latin typeface="+mn-lt"/>
                          <a:ea typeface="+mn-ea"/>
                          <a:cs typeface="+mn-cs"/>
                          <a:sym typeface="Arial" panose="020B0604020202020204"/>
                        </a:rPr>
                        <a:t> Such accounts are used for spam, scams, and coordination</a:t>
                      </a:r>
                    </a:p>
                    <a:p>
                      <a:pPr algn="just"/>
                      <a:r>
                        <a:rPr lang="en-US" sz="1600" b="0" i="0" u="none" strike="noStrike" cap="none" dirty="0" smtClean="0">
                          <a:solidFill>
                            <a:schemeClr val="dk1"/>
                          </a:solidFill>
                          <a:effectLst/>
                          <a:latin typeface="+mn-lt"/>
                          <a:ea typeface="+mn-ea"/>
                          <a:cs typeface="+mn-cs"/>
                          <a:sym typeface="Arial" panose="020B0604020202020204"/>
                        </a:rPr>
                        <a:t> Visual patterns can help detect fake profiles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 dataset of 1,420 Twitter (X) accounts using AI-generated human faces as profile images.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The proposed method shows high precision in identifying fake profiles, especially at large scale.</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 Advanced AI images are difficult to detect</a:t>
                      </a:r>
                    </a:p>
                    <a:p>
                      <a:pPr algn="just"/>
                      <a:r>
                        <a:rPr lang="en-US" sz="1600" b="0" i="0" u="none" strike="noStrike" cap="none" dirty="0" smtClean="0">
                          <a:solidFill>
                            <a:schemeClr val="dk1"/>
                          </a:solidFill>
                          <a:effectLst/>
                          <a:latin typeface="+mn-lt"/>
                          <a:ea typeface="+mn-ea"/>
                          <a:cs typeface="+mn-cs"/>
                          <a:sym typeface="Arial" panose="020B0604020202020204"/>
                        </a:rPr>
                        <a:t> Focuses mainly on profile images</a:t>
                      </a:r>
                      <a:endParaRPr lang="en-US" sz="1600" dirty="0"/>
                    </a:p>
                  </a:txBody>
                  <a:tcPr/>
                </a:tc>
              </a:tr>
              <a:tr h="600247">
                <a:tc>
                  <a:txBody>
                    <a:bodyPr/>
                    <a:lstStyle/>
                    <a:p>
                      <a:pPr algn="just"/>
                      <a:r>
                        <a:rPr lang="en-US" sz="1600" dirty="0" smtClean="0"/>
                        <a:t>[</a:t>
                      </a:r>
                      <a:r>
                        <a:rPr lang="en-US" sz="1600" dirty="0" smtClean="0"/>
                        <a:t>10]</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Machine Learning models are combined with Explainable AI techniques such as SHAP and LIME to understand why an account is classified as fake.</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 Explainable AI improves transparency and trust</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Behavioral </a:t>
                      </a:r>
                      <a:r>
                        <a:rPr lang="en-US" sz="1600" b="0" i="0" u="none" strike="noStrike" cap="none" dirty="0" smtClean="0">
                          <a:solidFill>
                            <a:schemeClr val="dk1"/>
                          </a:solidFill>
                          <a:effectLst/>
                          <a:latin typeface="+mn-lt"/>
                          <a:ea typeface="+mn-ea"/>
                          <a:cs typeface="+mn-cs"/>
                          <a:sym typeface="Arial" panose="020B0604020202020204"/>
                        </a:rPr>
                        <a:t>features are strong indicators of fake accounts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Cresci-15 and Cresci-17 datasets containing labeled real and bot accounts.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The system achieves over 90% accuracy, outperforming many existing methods.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 Feature engineering requires effort</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Performance </a:t>
                      </a:r>
                      <a:r>
                        <a:rPr lang="en-US" sz="1600" b="0" i="0" u="none" strike="noStrike" cap="none" dirty="0" smtClean="0">
                          <a:solidFill>
                            <a:schemeClr val="dk1"/>
                          </a:solidFill>
                          <a:effectLst/>
                          <a:latin typeface="+mn-lt"/>
                          <a:ea typeface="+mn-ea"/>
                          <a:cs typeface="+mn-cs"/>
                          <a:sym typeface="Arial" panose="020B0604020202020204"/>
                        </a:rPr>
                        <a:t>depends on dataset quality</a:t>
                      </a:r>
                      <a:endParaRPr lang="en-US" sz="1600" dirty="0"/>
                    </a:p>
                  </a:txBody>
                  <a:tcPr/>
                </a:tc>
              </a:tr>
            </a:tbl>
          </a:graphicData>
        </a:graphic>
      </p:graphicFrame>
    </p:spTree>
    <p:extLst>
      <p:ext uri="{BB962C8B-B14F-4D97-AF65-F5344CB8AC3E}">
        <p14:creationId xmlns:p14="http://schemas.microsoft.com/office/powerpoint/2010/main" val="16652991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5736" y="263887"/>
            <a:ext cx="5623684" cy="457660"/>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560558836"/>
              </p:ext>
            </p:extLst>
          </p:nvPr>
        </p:nvGraphicFramePr>
        <p:xfrm>
          <a:off x="779645" y="1214162"/>
          <a:ext cx="10380713" cy="4673373"/>
        </p:xfrm>
        <a:graphic>
          <a:graphicData uri="http://schemas.openxmlformats.org/drawingml/2006/table">
            <a:tbl>
              <a:tblPr firstRow="1" bandRow="1">
                <a:tableStyleId>{5C22544A-7EE6-4342-B048-85BDC9FD1C3A}</a:tableStyleId>
              </a:tblPr>
              <a:tblGrid>
                <a:gridCol w="1730119"/>
                <a:gridCol w="2173620"/>
                <a:gridCol w="2121855"/>
                <a:gridCol w="1372218"/>
                <a:gridCol w="1252782"/>
                <a:gridCol w="1730119"/>
              </a:tblGrid>
              <a:tr h="589053">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2165946">
                <a:tc>
                  <a:txBody>
                    <a:bodyPr/>
                    <a:lstStyle/>
                    <a:p>
                      <a:pPr algn="just"/>
                      <a:r>
                        <a:rPr lang="en-US" sz="1600" dirty="0" smtClean="0"/>
                        <a:t>[11]</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The study analyzes AI-generated content and account behavior used in influence campaigns and misinformation operations.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AI enables large-scale fake account operations</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Traditional detection systems are becoming weaker</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Case studies, reports, and social media campaign analyses.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No numerical accuracy provided; focus is on qualitative risk assessment.</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Difficult to detect activity in real time</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Multilingual content increases complexity</a:t>
                      </a:r>
                      <a:endParaRPr lang="en-US" sz="1600" dirty="0"/>
                    </a:p>
                  </a:txBody>
                  <a:tcPr/>
                </a:tc>
              </a:tr>
              <a:tr h="1651993">
                <a:tc>
                  <a:txBody>
                    <a:bodyPr/>
                    <a:lstStyle/>
                    <a:p>
                      <a:pPr algn="just"/>
                      <a:r>
                        <a:rPr lang="en-US" sz="1600" dirty="0" smtClean="0"/>
                        <a:t>[</a:t>
                      </a:r>
                      <a:r>
                        <a:rPr lang="en-US" sz="1600" dirty="0" smtClean="0"/>
                        <a:t>12]</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Game-theoretical and economic modeling is used to study fake account purchasing behavior.</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Influencers buy fake followers to appear popular</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Platforms may avoid strict action due to profit motives</a:t>
                      </a:r>
                      <a:endParaRPr lang="en-US" sz="1600" dirty="0"/>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600" b="0" i="0" u="none" strike="noStrike" cap="none" dirty="0" smtClean="0">
                          <a:solidFill>
                            <a:schemeClr val="dk1"/>
                          </a:solidFill>
                          <a:effectLst/>
                          <a:latin typeface="+mn-lt"/>
                          <a:ea typeface="+mn-ea"/>
                          <a:cs typeface="+mn-cs"/>
                          <a:sym typeface="Arial" panose="020B0604020202020204"/>
                        </a:rPr>
                        <a:t>Influencer market data and platform-level statistics.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Not applicable, as this is a theoretical economic model.</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Relies on assumptions</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Limited real-world data</a:t>
                      </a:r>
                      <a:endParaRPr lang="en-US" sz="1600" dirty="0"/>
                    </a:p>
                  </a:txBody>
                  <a:tcPr/>
                </a:tc>
              </a:tr>
            </a:tbl>
          </a:graphicData>
        </a:graphic>
      </p:graphicFrame>
    </p:spTree>
    <p:extLst>
      <p:ext uri="{BB962C8B-B14F-4D97-AF65-F5344CB8AC3E}">
        <p14:creationId xmlns:p14="http://schemas.microsoft.com/office/powerpoint/2010/main" val="6876456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268871682"/>
              </p:ext>
            </p:extLst>
          </p:nvPr>
        </p:nvGraphicFramePr>
        <p:xfrm>
          <a:off x="784318" y="1209882"/>
          <a:ext cx="10376040" cy="4686822"/>
        </p:xfrm>
        <a:graphic>
          <a:graphicData uri="http://schemas.openxmlformats.org/drawingml/2006/table">
            <a:tbl>
              <a:tblPr firstRow="1" bandRow="1">
                <a:tableStyleId>{5C22544A-7EE6-4342-B048-85BDC9FD1C3A}</a:tableStyleId>
              </a:tblPr>
              <a:tblGrid>
                <a:gridCol w="1729340"/>
                <a:gridCol w="2172642"/>
                <a:gridCol w="2120900"/>
                <a:gridCol w="1371600"/>
                <a:gridCol w="1252218"/>
                <a:gridCol w="1729340"/>
              </a:tblGrid>
              <a:tr h="627794">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2016868">
                <a:tc>
                  <a:txBody>
                    <a:bodyPr/>
                    <a:lstStyle/>
                    <a:p>
                      <a:pPr algn="just"/>
                      <a:r>
                        <a:rPr lang="en-US" sz="1600" dirty="0" smtClean="0"/>
                        <a:t>[13]</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Systematic literature review and </a:t>
                      </a:r>
                      <a:r>
                        <a:rPr lang="en-US" sz="1600" b="0" i="0" u="none" strike="noStrike" cap="none" dirty="0" err="1" smtClean="0">
                          <a:solidFill>
                            <a:schemeClr val="dk1"/>
                          </a:solidFill>
                          <a:effectLst/>
                          <a:latin typeface="+mn-lt"/>
                          <a:ea typeface="+mn-ea"/>
                          <a:cs typeface="+mn-cs"/>
                          <a:sym typeface="Arial" panose="020B0604020202020204"/>
                        </a:rPr>
                        <a:t>BERTopic</a:t>
                      </a:r>
                      <a:r>
                        <a:rPr lang="en-US" sz="1600" b="0" i="0" u="none" strike="noStrike" cap="none" dirty="0" smtClean="0">
                          <a:solidFill>
                            <a:schemeClr val="dk1"/>
                          </a:solidFill>
                          <a:effectLst/>
                          <a:latin typeface="+mn-lt"/>
                          <a:ea typeface="+mn-ea"/>
                          <a:cs typeface="+mn-cs"/>
                          <a:sym typeface="Arial" panose="020B0604020202020204"/>
                        </a:rPr>
                        <a:t> modeling are used to analyze AI applications.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AI is effective in bot and fake account detection</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Bias and echo chambers are major concerns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Large collection of published research papers and scholarly articles.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Studies show improved detection performance using AI-based systems.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Ethical and fairness issues</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Algorithmic bias</a:t>
                      </a:r>
                      <a:endParaRPr lang="en-US" sz="1600" dirty="0"/>
                    </a:p>
                  </a:txBody>
                  <a:tcPr/>
                </a:tc>
              </a:tr>
              <a:tr h="2016868">
                <a:tc>
                  <a:txBody>
                    <a:bodyPr/>
                    <a:lstStyle/>
                    <a:p>
                      <a:pPr algn="just"/>
                      <a:r>
                        <a:rPr lang="en-US" sz="1600" dirty="0" smtClean="0"/>
                        <a:t>[</a:t>
                      </a:r>
                      <a:r>
                        <a:rPr lang="en-US" sz="1600" dirty="0" smtClean="0"/>
                        <a:t>14]</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Zero-shot learning, self-supervised models, and transformer-based techniques are used.</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Unseen fake content can be detected</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Multimodal detection improves results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Mixed real media datasets; no need for labeled </a:t>
                      </a:r>
                      <a:r>
                        <a:rPr lang="en-US" sz="1600" b="0" i="0" u="none" strike="noStrike" cap="none" dirty="0" err="1" smtClean="0">
                          <a:solidFill>
                            <a:schemeClr val="dk1"/>
                          </a:solidFill>
                          <a:effectLst/>
                          <a:latin typeface="+mn-lt"/>
                          <a:ea typeface="+mn-ea"/>
                          <a:cs typeface="+mn-cs"/>
                          <a:sym typeface="Arial" panose="020B0604020202020204"/>
                        </a:rPr>
                        <a:t>deepfake</a:t>
                      </a:r>
                      <a:r>
                        <a:rPr lang="en-US" sz="1600" b="0" i="0" u="none" strike="noStrike" cap="none" dirty="0" smtClean="0">
                          <a:solidFill>
                            <a:schemeClr val="dk1"/>
                          </a:solidFill>
                          <a:effectLst/>
                          <a:latin typeface="+mn-lt"/>
                          <a:ea typeface="+mn-ea"/>
                          <a:cs typeface="+mn-cs"/>
                          <a:sym typeface="Arial" panose="020B0604020202020204"/>
                        </a:rPr>
                        <a:t> samples.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Shows better generalization than traditional supervised models.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High computational cost</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Vulnerable to adversarial attacks</a:t>
                      </a:r>
                      <a:endParaRPr lang="en-US" sz="1600" dirty="0"/>
                    </a:p>
                  </a:txBody>
                  <a:tcPr/>
                </a:tc>
              </a:tr>
            </a:tbl>
          </a:graphicData>
        </a:graphic>
      </p:graphicFrame>
    </p:spTree>
    <p:extLst>
      <p:ext uri="{BB962C8B-B14F-4D97-AF65-F5344CB8AC3E}">
        <p14:creationId xmlns:p14="http://schemas.microsoft.com/office/powerpoint/2010/main" val="22672027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58266" y="259882"/>
            <a:ext cx="5621153" cy="461665"/>
          </a:xfrm>
          <a:prstGeom prst="rect">
            <a:avLst/>
          </a:prstGeom>
          <a:noFill/>
        </p:spPr>
        <p:txBody>
          <a:bodyPr wrap="square" rtlCol="0">
            <a:spAutoFit/>
          </a:bodyPr>
          <a:lstStyle/>
          <a:p>
            <a:r>
              <a:rPr lang="en-US" sz="2400" b="1" dirty="0" smtClean="0">
                <a:solidFill>
                  <a:schemeClr val="accent1"/>
                </a:solidFill>
                <a:latin typeface="Proxima Nova" panose="020B0604020202020204" charset="0"/>
              </a:rPr>
              <a:t>Literature Review</a:t>
            </a:r>
            <a:endParaRPr lang="en-US" sz="2400" b="1" dirty="0">
              <a:solidFill>
                <a:schemeClr val="accent1"/>
              </a:solidFill>
              <a:latin typeface="Proxima Nova" panose="020B060402020202020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4027924052"/>
              </p:ext>
            </p:extLst>
          </p:nvPr>
        </p:nvGraphicFramePr>
        <p:xfrm>
          <a:off x="784318" y="1209882"/>
          <a:ext cx="10376040" cy="5087163"/>
        </p:xfrm>
        <a:graphic>
          <a:graphicData uri="http://schemas.openxmlformats.org/drawingml/2006/table">
            <a:tbl>
              <a:tblPr firstRow="1" bandRow="1">
                <a:tableStyleId>{5C22544A-7EE6-4342-B048-85BDC9FD1C3A}</a:tableStyleId>
              </a:tblPr>
              <a:tblGrid>
                <a:gridCol w="1729340"/>
                <a:gridCol w="2172642"/>
                <a:gridCol w="2120900"/>
                <a:gridCol w="1371600"/>
                <a:gridCol w="1252218"/>
                <a:gridCol w="1729340"/>
              </a:tblGrid>
              <a:tr h="732305">
                <a:tc>
                  <a:txBody>
                    <a:bodyPr/>
                    <a:lstStyle/>
                    <a:p>
                      <a:pPr algn="just"/>
                      <a:r>
                        <a:rPr lang="en-US" sz="1600" dirty="0" smtClean="0"/>
                        <a:t>Paper Title</a:t>
                      </a:r>
                      <a:endParaRPr lang="en-US" sz="1600" dirty="0"/>
                    </a:p>
                  </a:txBody>
                  <a:tcPr/>
                </a:tc>
                <a:tc>
                  <a:txBody>
                    <a:bodyPr/>
                    <a:lstStyle/>
                    <a:p>
                      <a:pPr algn="just"/>
                      <a:r>
                        <a:rPr lang="en-US" sz="1600" dirty="0" smtClean="0"/>
                        <a:t>Methodology</a:t>
                      </a:r>
                      <a:endParaRPr lang="en-US" sz="1600" dirty="0"/>
                    </a:p>
                  </a:txBody>
                  <a:tcPr/>
                </a:tc>
                <a:tc>
                  <a:txBody>
                    <a:bodyPr/>
                    <a:lstStyle/>
                    <a:p>
                      <a:pPr algn="just"/>
                      <a:r>
                        <a:rPr lang="en-US" sz="1600" dirty="0" smtClean="0"/>
                        <a:t>Key Findings</a:t>
                      </a:r>
                      <a:endParaRPr lang="en-US" sz="1600" dirty="0"/>
                    </a:p>
                  </a:txBody>
                  <a:tcPr/>
                </a:tc>
                <a:tc>
                  <a:txBody>
                    <a:bodyPr/>
                    <a:lstStyle/>
                    <a:p>
                      <a:pPr algn="just"/>
                      <a:r>
                        <a:rPr lang="en-US" sz="1600" dirty="0" smtClean="0"/>
                        <a:t>Tools</a:t>
                      </a:r>
                      <a:endParaRPr lang="en-US" sz="1600" dirty="0"/>
                    </a:p>
                  </a:txBody>
                  <a:tcPr/>
                </a:tc>
                <a:tc>
                  <a:txBody>
                    <a:bodyPr/>
                    <a:lstStyle/>
                    <a:p>
                      <a:pPr algn="just"/>
                      <a:r>
                        <a:rPr lang="en-US" sz="1600" dirty="0" smtClean="0"/>
                        <a:t>Accuracy</a:t>
                      </a:r>
                      <a:endParaRPr lang="en-US" sz="1600" dirty="0"/>
                    </a:p>
                  </a:txBody>
                  <a:tcPr/>
                </a:tc>
                <a:tc>
                  <a:txBody>
                    <a:bodyPr/>
                    <a:lstStyle/>
                    <a:p>
                      <a:pPr algn="just"/>
                      <a:r>
                        <a:rPr lang="en-US" sz="1600" dirty="0" smtClean="0"/>
                        <a:t>Limitations</a:t>
                      </a:r>
                      <a:endParaRPr lang="en-US" sz="1600" dirty="0"/>
                    </a:p>
                  </a:txBody>
                  <a:tcPr/>
                </a:tc>
              </a:tr>
              <a:tr h="2556538">
                <a:tc>
                  <a:txBody>
                    <a:bodyPr/>
                    <a:lstStyle/>
                    <a:p>
                      <a:pPr algn="just"/>
                      <a:r>
                        <a:rPr lang="en-US" sz="1600" dirty="0" smtClean="0"/>
                        <a:t>[15]</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Combines content analysis, user profiling, and social engagement features.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User behavior plays a major role in detection</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Hybrid models perform better than single-feature models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A fully annotated unified dataset including user profiles and engagement data.</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The model achieves approximately 78% accuracy.</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Dataset dependency</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Platform-specific behavior</a:t>
                      </a:r>
                      <a:endParaRPr lang="en-US" sz="1600" dirty="0"/>
                    </a:p>
                  </a:txBody>
                  <a:tcPr/>
                </a:tc>
              </a:tr>
              <a:tr h="1738446">
                <a:tc>
                  <a:txBody>
                    <a:bodyPr/>
                    <a:lstStyle/>
                    <a:p>
                      <a:pPr algn="just"/>
                      <a:r>
                        <a:rPr lang="en-US" sz="1600" dirty="0" smtClean="0"/>
                        <a:t>[</a:t>
                      </a:r>
                      <a:r>
                        <a:rPr lang="en-US" sz="1600" dirty="0" smtClean="0"/>
                        <a:t>16]</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Qualitative research using thematic analysis of literature and case studies.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Generative AI increases fake accounts and </a:t>
                      </a:r>
                      <a:r>
                        <a:rPr lang="en-US" sz="1600" b="0" i="0" u="none" strike="noStrike" cap="none" dirty="0" err="1" smtClean="0">
                          <a:solidFill>
                            <a:schemeClr val="dk1"/>
                          </a:solidFill>
                          <a:effectLst/>
                          <a:latin typeface="+mn-lt"/>
                          <a:ea typeface="+mn-ea"/>
                          <a:cs typeface="+mn-cs"/>
                          <a:sym typeface="Arial" panose="020B0604020202020204"/>
                        </a:rPr>
                        <a:t>deepfakes</a:t>
                      </a:r>
                      <a:endParaRPr lang="en-US" sz="1600" b="0" i="0" u="none" strike="noStrike" cap="none" dirty="0" smtClean="0">
                        <a:solidFill>
                          <a:schemeClr val="dk1"/>
                        </a:solidFill>
                        <a:effectLst/>
                        <a:latin typeface="+mn-lt"/>
                        <a:ea typeface="+mn-ea"/>
                        <a:cs typeface="+mn-cs"/>
                        <a:sym typeface="Arial" panose="020B0604020202020204"/>
                      </a:endParaRP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Trust and privacy are major concerns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Research articles, interviews, and real-world case studies.</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Not applicable, as the study is qualitative.</a:t>
                      </a:r>
                      <a:endParaRPr lang="en-US" sz="1600" dirty="0"/>
                    </a:p>
                  </a:txBody>
                  <a:tcPr/>
                </a:tc>
                <a:tc>
                  <a:txBody>
                    <a:bodyPr/>
                    <a:lstStyle/>
                    <a:p>
                      <a:pPr algn="just"/>
                      <a:r>
                        <a:rPr lang="en-US" sz="1600" b="0" i="0" u="none" strike="noStrike" cap="none" dirty="0" smtClean="0">
                          <a:solidFill>
                            <a:schemeClr val="dk1"/>
                          </a:solidFill>
                          <a:effectLst/>
                          <a:latin typeface="+mn-lt"/>
                          <a:ea typeface="+mn-ea"/>
                          <a:cs typeface="+mn-cs"/>
                          <a:sym typeface="Arial" panose="020B0604020202020204"/>
                        </a:rPr>
                        <a:t>Lack of measurable metrics</a:t>
                      </a:r>
                    </a:p>
                    <a:p>
                      <a:pPr algn="just"/>
                      <a:endParaRPr lang="en-US" sz="1600" b="0" i="0" u="none" strike="noStrike" cap="none" dirty="0" smtClean="0">
                        <a:solidFill>
                          <a:schemeClr val="dk1"/>
                        </a:solidFill>
                        <a:effectLst/>
                        <a:latin typeface="+mn-lt"/>
                        <a:ea typeface="+mn-ea"/>
                        <a:cs typeface="+mn-cs"/>
                        <a:sym typeface="Arial" panose="020B0604020202020204"/>
                      </a:endParaRPr>
                    </a:p>
                    <a:p>
                      <a:pPr algn="just"/>
                      <a:r>
                        <a:rPr lang="en-US" sz="1600" b="0" i="0" u="none" strike="noStrike" cap="none" dirty="0" smtClean="0">
                          <a:solidFill>
                            <a:schemeClr val="dk1"/>
                          </a:solidFill>
                          <a:effectLst/>
                          <a:latin typeface="+mn-lt"/>
                          <a:ea typeface="+mn-ea"/>
                          <a:cs typeface="+mn-cs"/>
                          <a:sym typeface="Arial" panose="020B0604020202020204"/>
                        </a:rPr>
                        <a:t>Rapid evolution of AI technologies</a:t>
                      </a:r>
                      <a:endParaRPr lang="en-US" sz="1600" dirty="0"/>
                    </a:p>
                  </a:txBody>
                  <a:tcPr/>
                </a:tc>
              </a:tr>
            </a:tbl>
          </a:graphicData>
        </a:graphic>
      </p:graphicFrame>
    </p:spTree>
    <p:extLst>
      <p:ext uri="{BB962C8B-B14F-4D97-AF65-F5344CB8AC3E}">
        <p14:creationId xmlns:p14="http://schemas.microsoft.com/office/powerpoint/2010/main" val="30743654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19764" y="413886"/>
            <a:ext cx="4427621" cy="461665"/>
          </a:xfrm>
          <a:prstGeom prst="rect">
            <a:avLst/>
          </a:prstGeom>
          <a:noFill/>
        </p:spPr>
        <p:txBody>
          <a:bodyPr wrap="square" rtlCol="0">
            <a:spAutoFit/>
          </a:bodyPr>
          <a:lstStyle/>
          <a:p>
            <a:r>
              <a:rPr lang="en-US" sz="2400" b="1" dirty="0" smtClean="0">
                <a:solidFill>
                  <a:schemeClr val="accent1"/>
                </a:solidFill>
                <a:latin typeface="+mj-lt"/>
              </a:rPr>
              <a:t>Research Gap</a:t>
            </a:r>
            <a:endParaRPr lang="en-US" sz="2400" b="1" dirty="0">
              <a:solidFill>
                <a:schemeClr val="accent1"/>
              </a:solidFill>
              <a:latin typeface="+mj-lt"/>
            </a:endParaRPr>
          </a:p>
        </p:txBody>
      </p:sp>
      <p:sp>
        <p:nvSpPr>
          <p:cNvPr id="3" name="TextBox 2"/>
          <p:cNvSpPr txBox="1"/>
          <p:nvPr/>
        </p:nvSpPr>
        <p:spPr>
          <a:xfrm>
            <a:off x="635266" y="1395663"/>
            <a:ext cx="11097929" cy="4524315"/>
          </a:xfrm>
          <a:prstGeom prst="rect">
            <a:avLst/>
          </a:prstGeom>
          <a:noFill/>
        </p:spPr>
        <p:txBody>
          <a:bodyPr wrap="square" rtlCol="0">
            <a:spAutoFit/>
          </a:bodyPr>
          <a:lstStyle/>
          <a:p>
            <a:pPr algn="just"/>
            <a:r>
              <a:rPr lang="en-US" sz="2400" dirty="0"/>
              <a:t>• </a:t>
            </a:r>
            <a:r>
              <a:rPr lang="en-US" sz="2400" dirty="0" smtClean="0"/>
              <a:t>Many </a:t>
            </a:r>
            <a:r>
              <a:rPr lang="en-US" sz="2400" dirty="0"/>
              <a:t>existing studies focus only on </a:t>
            </a:r>
            <a:r>
              <a:rPr lang="en-US" sz="2400" b="1" dirty="0"/>
              <a:t>single platforms</a:t>
            </a:r>
            <a:r>
              <a:rPr lang="en-US" sz="2400" dirty="0"/>
              <a:t> like </a:t>
            </a:r>
            <a:r>
              <a:rPr lang="en-US" sz="2400" dirty="0" smtClean="0"/>
              <a:t>Twitter </a:t>
            </a:r>
            <a:r>
              <a:rPr lang="en-US" sz="2400" dirty="0"/>
              <a:t>or Instagram</a:t>
            </a:r>
            <a:r>
              <a:rPr lang="en-US" sz="2400" dirty="0" smtClean="0"/>
              <a:t>.</a:t>
            </a:r>
          </a:p>
          <a:p>
            <a:pPr algn="just"/>
            <a:endParaRPr lang="en-US" sz="2400" dirty="0" smtClean="0"/>
          </a:p>
          <a:p>
            <a:pPr algn="just"/>
            <a:r>
              <a:rPr lang="en-US" sz="2400" dirty="0" smtClean="0"/>
              <a:t>• High computational cost in deep learning models.</a:t>
            </a:r>
          </a:p>
          <a:p>
            <a:pPr algn="just"/>
            <a:endParaRPr lang="en-US" sz="2400" dirty="0" smtClean="0"/>
          </a:p>
          <a:p>
            <a:pPr algn="just"/>
            <a:r>
              <a:rPr lang="en-US" sz="2400" dirty="0" smtClean="0"/>
              <a:t>• </a:t>
            </a:r>
            <a:r>
              <a:rPr lang="en-US" sz="2400" dirty="0"/>
              <a:t>Difficulty detecting </a:t>
            </a:r>
            <a:r>
              <a:rPr lang="en-US" sz="2400" b="1" dirty="0"/>
              <a:t>newly created fake accounts</a:t>
            </a:r>
            <a:r>
              <a:rPr lang="en-US" sz="2400" dirty="0"/>
              <a:t>.</a:t>
            </a:r>
          </a:p>
          <a:p>
            <a:pPr algn="just"/>
            <a:endParaRPr lang="en-US" sz="2400" dirty="0" smtClean="0"/>
          </a:p>
          <a:p>
            <a:pPr algn="just"/>
            <a:r>
              <a:rPr lang="en-US" sz="2400" dirty="0" smtClean="0"/>
              <a:t>• </a:t>
            </a:r>
            <a:r>
              <a:rPr lang="en-US" sz="2400" dirty="0"/>
              <a:t>Some systems analyze only profile features but ignore </a:t>
            </a:r>
            <a:endParaRPr lang="en-US" sz="2400" dirty="0" smtClean="0"/>
          </a:p>
          <a:p>
            <a:pPr algn="just"/>
            <a:r>
              <a:rPr lang="en-US" sz="2400" dirty="0" smtClean="0"/>
              <a:t>behavioral </a:t>
            </a:r>
            <a:r>
              <a:rPr lang="en-US" sz="2400" dirty="0"/>
              <a:t>patterns.</a:t>
            </a:r>
          </a:p>
          <a:p>
            <a:pPr algn="just"/>
            <a:endParaRPr lang="en-US" sz="2400" dirty="0" smtClean="0"/>
          </a:p>
          <a:p>
            <a:pPr algn="just"/>
            <a:r>
              <a:rPr lang="en-US" sz="2400" dirty="0" smtClean="0"/>
              <a:t>• </a:t>
            </a:r>
            <a:r>
              <a:rPr lang="en-US" sz="2400" dirty="0"/>
              <a:t>There is a need for a </a:t>
            </a:r>
            <a:r>
              <a:rPr lang="en-US" sz="2400" b="1" dirty="0"/>
              <a:t>more efficient and scalable AI-based detection system</a:t>
            </a:r>
            <a:r>
              <a:rPr lang="en-US" sz="2400" dirty="0"/>
              <a:t>.</a:t>
            </a:r>
          </a:p>
          <a:p>
            <a:pPr algn="just"/>
            <a:endParaRPr lang="en-US" sz="2400" dirty="0"/>
          </a:p>
        </p:txBody>
      </p:sp>
    </p:spTree>
    <p:extLst>
      <p:ext uri="{BB962C8B-B14F-4D97-AF65-F5344CB8AC3E}">
        <p14:creationId xmlns:p14="http://schemas.microsoft.com/office/powerpoint/2010/main" val="38142238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423512" y="298383"/>
            <a:ext cx="4783755" cy="461665"/>
          </a:xfrm>
          <a:prstGeom prst="rect">
            <a:avLst/>
          </a:prstGeom>
          <a:noFill/>
        </p:spPr>
        <p:txBody>
          <a:bodyPr wrap="square" rtlCol="0">
            <a:spAutoFit/>
          </a:bodyPr>
          <a:lstStyle/>
          <a:p>
            <a:r>
              <a:rPr lang="en-US" sz="2400" b="1" dirty="0" smtClean="0">
                <a:solidFill>
                  <a:schemeClr val="accent1"/>
                </a:solidFill>
              </a:rPr>
              <a:t>Proposed System</a:t>
            </a:r>
            <a:endParaRPr lang="en-US" sz="2400" b="1" dirty="0">
              <a:solidFill>
                <a:schemeClr val="accent1"/>
              </a:solidFill>
            </a:endParaRPr>
          </a:p>
        </p:txBody>
      </p:sp>
      <p:sp>
        <p:nvSpPr>
          <p:cNvPr id="3" name="TextBox 2"/>
          <p:cNvSpPr txBox="1"/>
          <p:nvPr/>
        </p:nvSpPr>
        <p:spPr>
          <a:xfrm>
            <a:off x="558265" y="1193532"/>
            <a:ext cx="10626291" cy="461665"/>
          </a:xfrm>
          <a:prstGeom prst="rect">
            <a:avLst/>
          </a:prstGeom>
          <a:noFill/>
        </p:spPr>
        <p:txBody>
          <a:bodyPr wrap="square" rtlCol="0">
            <a:spAutoFit/>
          </a:bodyPr>
          <a:lstStyle/>
          <a:p>
            <a:r>
              <a:rPr lang="en-US" sz="2400" dirty="0"/>
              <a:t>Proposed System: </a:t>
            </a:r>
            <a:r>
              <a:rPr lang="en-US" sz="2400" b="1" dirty="0" smtClean="0"/>
              <a:t>AI-Based </a:t>
            </a:r>
            <a:r>
              <a:rPr lang="en-US" sz="2400" b="1" dirty="0"/>
              <a:t>Fake Account Detection</a:t>
            </a:r>
            <a:endParaRPr lang="en-US" sz="2400" dirty="0"/>
          </a:p>
        </p:txBody>
      </p:sp>
      <p:pic>
        <p:nvPicPr>
          <p:cNvPr id="6" name="Picture 5"/>
          <p:cNvPicPr>
            <a:picLocks noChangeAspect="1"/>
          </p:cNvPicPr>
          <p:nvPr/>
        </p:nvPicPr>
        <p:blipFill>
          <a:blip r:embed="rId4"/>
          <a:stretch>
            <a:fillRect/>
          </a:stretch>
        </p:blipFill>
        <p:spPr>
          <a:xfrm>
            <a:off x="678450" y="1828452"/>
            <a:ext cx="10506106" cy="4646055"/>
          </a:xfrm>
          <a:prstGeom prst="rect">
            <a:avLst/>
          </a:prstGeom>
        </p:spPr>
      </p:pic>
    </p:spTree>
    <p:extLst>
      <p:ext uri="{BB962C8B-B14F-4D97-AF65-F5344CB8AC3E}">
        <p14:creationId xmlns:p14="http://schemas.microsoft.com/office/powerpoint/2010/main" val="7303605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423512" y="298383"/>
            <a:ext cx="4783755" cy="461665"/>
          </a:xfrm>
          <a:prstGeom prst="rect">
            <a:avLst/>
          </a:prstGeom>
          <a:noFill/>
        </p:spPr>
        <p:txBody>
          <a:bodyPr wrap="square" rtlCol="0">
            <a:spAutoFit/>
          </a:bodyPr>
          <a:lstStyle/>
          <a:p>
            <a:r>
              <a:rPr lang="en-US" sz="2400" b="1" dirty="0" smtClean="0">
                <a:solidFill>
                  <a:schemeClr val="accent1"/>
                </a:solidFill>
              </a:rPr>
              <a:t>Proposed Methodology</a:t>
            </a:r>
            <a:endParaRPr lang="en-US" sz="2400" b="1" dirty="0">
              <a:solidFill>
                <a:schemeClr val="accent1"/>
              </a:solidFill>
            </a:endParaRPr>
          </a:p>
        </p:txBody>
      </p:sp>
      <p:sp>
        <p:nvSpPr>
          <p:cNvPr id="4" name="Rectangle 3"/>
          <p:cNvSpPr/>
          <p:nvPr/>
        </p:nvSpPr>
        <p:spPr>
          <a:xfrm>
            <a:off x="4820648" y="1568915"/>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Data Collection</a:t>
            </a:r>
            <a:endParaRPr lang="en-US" sz="2000" dirty="0"/>
          </a:p>
        </p:txBody>
      </p:sp>
      <p:sp>
        <p:nvSpPr>
          <p:cNvPr id="7" name="Rectangle 6"/>
          <p:cNvSpPr/>
          <p:nvPr/>
        </p:nvSpPr>
        <p:spPr>
          <a:xfrm>
            <a:off x="8553648" y="1568916"/>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Data Preprocessing</a:t>
            </a:r>
            <a:endParaRPr lang="en-US" sz="2000" dirty="0"/>
          </a:p>
        </p:txBody>
      </p:sp>
      <p:sp>
        <p:nvSpPr>
          <p:cNvPr id="8" name="Rectangle 7"/>
          <p:cNvSpPr/>
          <p:nvPr/>
        </p:nvSpPr>
        <p:spPr>
          <a:xfrm>
            <a:off x="8553648" y="3657595"/>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Feature Extraction</a:t>
            </a:r>
            <a:endParaRPr lang="en-US" sz="2000" dirty="0"/>
          </a:p>
        </p:txBody>
      </p:sp>
      <p:sp>
        <p:nvSpPr>
          <p:cNvPr id="9" name="Rectangle 8"/>
          <p:cNvSpPr/>
          <p:nvPr/>
        </p:nvSpPr>
        <p:spPr>
          <a:xfrm>
            <a:off x="4820649" y="3657596"/>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Feature Selection</a:t>
            </a:r>
            <a:endParaRPr lang="en-US" sz="2000" dirty="0"/>
          </a:p>
        </p:txBody>
      </p:sp>
      <p:sp>
        <p:nvSpPr>
          <p:cNvPr id="5" name="Right Arrow 4"/>
          <p:cNvSpPr/>
          <p:nvPr/>
        </p:nvSpPr>
        <p:spPr>
          <a:xfrm>
            <a:off x="3012707" y="1838423"/>
            <a:ext cx="1807945" cy="25025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87650" y="3657597"/>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Model Training</a:t>
            </a:r>
            <a:endParaRPr lang="en-US" sz="2000" dirty="0"/>
          </a:p>
        </p:txBody>
      </p:sp>
      <p:sp>
        <p:nvSpPr>
          <p:cNvPr id="11" name="Rectangle 10"/>
          <p:cNvSpPr/>
          <p:nvPr/>
        </p:nvSpPr>
        <p:spPr>
          <a:xfrm>
            <a:off x="4820650" y="5486398"/>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t>Fake / Real Account Classification</a:t>
            </a:r>
            <a:endParaRPr lang="en-US" sz="1800" dirty="0"/>
          </a:p>
        </p:txBody>
      </p:sp>
      <p:sp>
        <p:nvSpPr>
          <p:cNvPr id="12" name="Rectangle 11"/>
          <p:cNvSpPr/>
          <p:nvPr/>
        </p:nvSpPr>
        <p:spPr>
          <a:xfrm>
            <a:off x="1029098" y="5486398"/>
            <a:ext cx="1925053" cy="770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Model Evaluation</a:t>
            </a:r>
            <a:endParaRPr lang="en-US" sz="2000" dirty="0"/>
          </a:p>
        </p:txBody>
      </p:sp>
      <p:sp>
        <p:nvSpPr>
          <p:cNvPr id="13" name="Right Arrow 12"/>
          <p:cNvSpPr/>
          <p:nvPr/>
        </p:nvSpPr>
        <p:spPr>
          <a:xfrm>
            <a:off x="6745705" y="1838423"/>
            <a:ext cx="1807945" cy="25025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9317254" y="2348564"/>
            <a:ext cx="336885" cy="1309033"/>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10800000">
            <a:off x="6745704" y="3917481"/>
            <a:ext cx="1807945" cy="25025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rot="10800000">
            <a:off x="3012704" y="3917827"/>
            <a:ext cx="1807945" cy="25025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1914219" y="4427618"/>
            <a:ext cx="271917" cy="99656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553649" y="5303520"/>
            <a:ext cx="2274772" cy="10587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End</a:t>
            </a:r>
            <a:endParaRPr lang="en-US" sz="2000" dirty="0"/>
          </a:p>
        </p:txBody>
      </p:sp>
      <p:sp>
        <p:nvSpPr>
          <p:cNvPr id="22" name="Oval 21"/>
          <p:cNvSpPr/>
          <p:nvPr/>
        </p:nvSpPr>
        <p:spPr>
          <a:xfrm>
            <a:off x="924025" y="1347537"/>
            <a:ext cx="2088678" cy="1145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Start</a:t>
            </a:r>
            <a:endParaRPr lang="en-US" sz="2000" dirty="0"/>
          </a:p>
        </p:txBody>
      </p:sp>
      <p:sp>
        <p:nvSpPr>
          <p:cNvPr id="23" name="Right Arrow 22"/>
          <p:cNvSpPr/>
          <p:nvPr/>
        </p:nvSpPr>
        <p:spPr>
          <a:xfrm>
            <a:off x="2992645" y="5775849"/>
            <a:ext cx="1807945" cy="25025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a:off x="6745701" y="5689220"/>
            <a:ext cx="1807945" cy="25025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2418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616017" y="231006"/>
            <a:ext cx="3850105" cy="461665"/>
          </a:xfrm>
          <a:prstGeom prst="rect">
            <a:avLst/>
          </a:prstGeom>
          <a:noFill/>
        </p:spPr>
        <p:txBody>
          <a:bodyPr wrap="square" rtlCol="0">
            <a:spAutoFit/>
          </a:bodyPr>
          <a:lstStyle/>
          <a:p>
            <a:r>
              <a:rPr lang="en-US" sz="2400" b="1" dirty="0" smtClean="0">
                <a:solidFill>
                  <a:schemeClr val="accent1"/>
                </a:solidFill>
              </a:rPr>
              <a:t>Datasets</a:t>
            </a:r>
            <a:endParaRPr lang="en-US" sz="2400" b="1" dirty="0">
              <a:solidFill>
                <a:schemeClr val="accent1"/>
              </a:solidFill>
            </a:endParaRPr>
          </a:p>
        </p:txBody>
      </p:sp>
      <p:sp>
        <p:nvSpPr>
          <p:cNvPr id="4" name="TextBox 3"/>
          <p:cNvSpPr txBox="1"/>
          <p:nvPr/>
        </p:nvSpPr>
        <p:spPr>
          <a:xfrm>
            <a:off x="779645" y="1559293"/>
            <a:ext cx="5659655" cy="3785652"/>
          </a:xfrm>
          <a:prstGeom prst="rect">
            <a:avLst/>
          </a:prstGeom>
          <a:noFill/>
          <a:ln>
            <a:noFill/>
          </a:ln>
        </p:spPr>
        <p:txBody>
          <a:bodyPr wrap="square" rtlCol="0">
            <a:spAutoFit/>
          </a:bodyPr>
          <a:lstStyle/>
          <a:p>
            <a:pPr algn="just"/>
            <a:r>
              <a:rPr lang="en-US" sz="2400" b="1" dirty="0"/>
              <a:t>Possible datasets for the project</a:t>
            </a:r>
            <a:r>
              <a:rPr lang="en-US" sz="2400" b="1" dirty="0" smtClean="0"/>
              <a:t>:</a:t>
            </a:r>
          </a:p>
          <a:p>
            <a:pPr algn="just"/>
            <a:endParaRPr lang="en-US" sz="2400" dirty="0" smtClean="0"/>
          </a:p>
          <a:p>
            <a:pPr algn="just"/>
            <a:r>
              <a:rPr lang="en-US" sz="2400" dirty="0" smtClean="0"/>
              <a:t>• </a:t>
            </a:r>
            <a:r>
              <a:rPr lang="en-US" sz="2400" b="1" dirty="0"/>
              <a:t>Twibot-22 Dataset</a:t>
            </a:r>
            <a:r>
              <a:rPr lang="en-US" sz="2400" dirty="0"/>
              <a:t> (Twitter bot detection dataset)</a:t>
            </a:r>
          </a:p>
          <a:p>
            <a:pPr algn="just"/>
            <a:endParaRPr lang="en-US" sz="2400" dirty="0" smtClean="0"/>
          </a:p>
          <a:p>
            <a:pPr algn="just"/>
            <a:r>
              <a:rPr lang="en-US" sz="2400" dirty="0" smtClean="0"/>
              <a:t>• </a:t>
            </a:r>
            <a:r>
              <a:rPr lang="en-US" sz="2400" b="1" dirty="0"/>
              <a:t>Cresci-2017 Dataset</a:t>
            </a:r>
            <a:r>
              <a:rPr lang="en-US" sz="2400" dirty="0"/>
              <a:t> (real and bot Twitter accounts)</a:t>
            </a:r>
          </a:p>
          <a:p>
            <a:pPr algn="just"/>
            <a:endParaRPr lang="en-US" sz="2400" dirty="0" smtClean="0"/>
          </a:p>
          <a:p>
            <a:pPr algn="just"/>
            <a:r>
              <a:rPr lang="en-US" sz="2400" dirty="0" smtClean="0"/>
              <a:t>• </a:t>
            </a:r>
            <a:r>
              <a:rPr lang="en-US" sz="2400" b="1" dirty="0" err="1"/>
              <a:t>Kaggle</a:t>
            </a:r>
            <a:r>
              <a:rPr lang="en-US" sz="2400" b="1" dirty="0"/>
              <a:t> Fake Account Dataset</a:t>
            </a:r>
            <a:endParaRPr lang="en-US" sz="2400" dirty="0"/>
          </a:p>
          <a:p>
            <a:pPr algn="just"/>
            <a:endParaRPr lang="en-US" sz="2400" dirty="0"/>
          </a:p>
        </p:txBody>
      </p:sp>
      <p:sp>
        <p:nvSpPr>
          <p:cNvPr id="5" name="TextBox 4"/>
          <p:cNvSpPr txBox="1"/>
          <p:nvPr/>
        </p:nvSpPr>
        <p:spPr>
          <a:xfrm>
            <a:off x="6648917" y="1559293"/>
            <a:ext cx="5111016" cy="3785652"/>
          </a:xfrm>
          <a:prstGeom prst="rect">
            <a:avLst/>
          </a:prstGeom>
          <a:noFill/>
          <a:ln>
            <a:noFill/>
          </a:ln>
        </p:spPr>
        <p:txBody>
          <a:bodyPr wrap="square" rtlCol="0">
            <a:spAutoFit/>
          </a:bodyPr>
          <a:lstStyle/>
          <a:p>
            <a:pPr algn="just"/>
            <a:r>
              <a:rPr lang="en-US" sz="2400" b="1" dirty="0"/>
              <a:t>Dataset features include:</a:t>
            </a:r>
          </a:p>
          <a:p>
            <a:pPr algn="just"/>
            <a:endParaRPr lang="en-US" sz="2400" dirty="0" smtClean="0"/>
          </a:p>
          <a:p>
            <a:pPr algn="just"/>
            <a:r>
              <a:rPr lang="en-US" sz="2400" dirty="0" smtClean="0"/>
              <a:t>• </a:t>
            </a:r>
            <a:r>
              <a:rPr lang="en-US" sz="2400" dirty="0"/>
              <a:t>User profile information</a:t>
            </a:r>
            <a:br>
              <a:rPr lang="en-US" sz="2400" dirty="0"/>
            </a:br>
            <a:endParaRPr lang="en-US" sz="2400" dirty="0" smtClean="0"/>
          </a:p>
          <a:p>
            <a:pPr algn="just"/>
            <a:r>
              <a:rPr lang="en-US" sz="2400" dirty="0" smtClean="0"/>
              <a:t>• </a:t>
            </a:r>
            <a:r>
              <a:rPr lang="en-US" sz="2400" dirty="0"/>
              <a:t>Followers and following count</a:t>
            </a:r>
            <a:br>
              <a:rPr lang="en-US" sz="2400" dirty="0"/>
            </a:br>
            <a:endParaRPr lang="en-US" sz="2400" dirty="0" smtClean="0"/>
          </a:p>
          <a:p>
            <a:pPr algn="just"/>
            <a:r>
              <a:rPr lang="en-US" sz="2400" dirty="0" smtClean="0"/>
              <a:t>• </a:t>
            </a:r>
            <a:r>
              <a:rPr lang="en-US" sz="2400" dirty="0"/>
              <a:t>Tweet or post activity</a:t>
            </a:r>
            <a:br>
              <a:rPr lang="en-US" sz="2400" dirty="0"/>
            </a:br>
            <a:endParaRPr lang="en-US" sz="2400" dirty="0" smtClean="0"/>
          </a:p>
          <a:p>
            <a:pPr algn="just"/>
            <a:r>
              <a:rPr lang="en-US" sz="2400" dirty="0" smtClean="0"/>
              <a:t>• </a:t>
            </a:r>
            <a:r>
              <a:rPr lang="en-US" sz="2400" dirty="0"/>
              <a:t>Account creation date</a:t>
            </a:r>
          </a:p>
          <a:p>
            <a:pPr algn="just"/>
            <a:endParaRPr lang="en-US" sz="2400" dirty="0"/>
          </a:p>
        </p:txBody>
      </p:sp>
    </p:spTree>
    <p:extLst>
      <p:ext uri="{BB962C8B-B14F-4D97-AF65-F5344CB8AC3E}">
        <p14:creationId xmlns:p14="http://schemas.microsoft.com/office/powerpoint/2010/main" val="26889502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616017" y="231006"/>
            <a:ext cx="7190071" cy="461665"/>
          </a:xfrm>
          <a:prstGeom prst="rect">
            <a:avLst/>
          </a:prstGeom>
          <a:noFill/>
        </p:spPr>
        <p:txBody>
          <a:bodyPr wrap="square" rtlCol="0">
            <a:spAutoFit/>
          </a:bodyPr>
          <a:lstStyle/>
          <a:p>
            <a:r>
              <a:rPr lang="en-US" sz="2400" b="1" dirty="0">
                <a:solidFill>
                  <a:schemeClr val="accent1"/>
                </a:solidFill>
              </a:rPr>
              <a:t>Results: Dataset Overview &amp; Class Distribution</a:t>
            </a:r>
            <a:endParaRPr lang="en-US" sz="2400" b="1" dirty="0">
              <a:solidFill>
                <a:schemeClr val="accent1"/>
              </a:solidFill>
            </a:endParaRPr>
          </a:p>
        </p:txBody>
      </p:sp>
      <p:sp>
        <p:nvSpPr>
          <p:cNvPr id="4" name="TextBox 3"/>
          <p:cNvSpPr txBox="1"/>
          <p:nvPr/>
        </p:nvSpPr>
        <p:spPr>
          <a:xfrm>
            <a:off x="346508" y="1224601"/>
            <a:ext cx="5659655" cy="2277547"/>
          </a:xfrm>
          <a:prstGeom prst="rect">
            <a:avLst/>
          </a:prstGeom>
          <a:noFill/>
          <a:ln>
            <a:noFill/>
          </a:ln>
        </p:spPr>
        <p:txBody>
          <a:bodyPr wrap="square" rtlCol="0">
            <a:spAutoFit/>
          </a:bodyPr>
          <a:lstStyle/>
          <a:p>
            <a:pPr algn="just"/>
            <a:r>
              <a:rPr lang="en-US" sz="1600" b="1" dirty="0"/>
              <a:t>Dataset: Twitter User </a:t>
            </a:r>
            <a:r>
              <a:rPr lang="en-US" sz="1600" b="1" dirty="0" smtClean="0"/>
              <a:t>Accounts</a:t>
            </a:r>
          </a:p>
          <a:p>
            <a:pPr algn="just"/>
            <a:endParaRPr lang="en-US" dirty="0"/>
          </a:p>
          <a:p>
            <a:pPr marL="285750" lvl="0" indent="-285750" algn="just">
              <a:buFont typeface="Arial" panose="020B0604020202020204" pitchFamily="34" charset="0"/>
              <a:buChar char="•"/>
            </a:pPr>
            <a:r>
              <a:rPr lang="en-US" dirty="0"/>
              <a:t>Total accounts in dataset: 1,000,000 labelled accounts</a:t>
            </a:r>
          </a:p>
          <a:p>
            <a:pPr marL="285750" lvl="0" indent="-285750" algn="just">
              <a:buFont typeface="Arial" panose="020B0604020202020204" pitchFamily="34" charset="0"/>
              <a:buChar char="•"/>
            </a:pPr>
            <a:r>
              <a:rPr lang="en-US" dirty="0"/>
              <a:t>Working sample for ML models: 200,000 accounts</a:t>
            </a:r>
          </a:p>
          <a:p>
            <a:pPr marL="285750" lvl="0" indent="-285750" algn="just">
              <a:buFont typeface="Arial" panose="020B0604020202020204" pitchFamily="34" charset="0"/>
              <a:buChar char="•"/>
            </a:pPr>
            <a:r>
              <a:rPr lang="en-US" dirty="0"/>
              <a:t>GNN subgraph: 50,000 nodes, 200,000 edges</a:t>
            </a:r>
          </a:p>
          <a:p>
            <a:pPr marL="285750" lvl="0" indent="-285750" algn="just">
              <a:buFont typeface="Arial" panose="020B0604020202020204" pitchFamily="34" charset="0"/>
              <a:buChar char="•"/>
            </a:pPr>
            <a:r>
              <a:rPr lang="en-US" dirty="0"/>
              <a:t>Human accounts: 172,080 (86.04%) — Majority class</a:t>
            </a:r>
          </a:p>
          <a:p>
            <a:pPr marL="285750" lvl="0" indent="-285750" algn="just">
              <a:buFont typeface="Arial" panose="020B0604020202020204" pitchFamily="34" charset="0"/>
              <a:buChar char="•"/>
            </a:pPr>
            <a:r>
              <a:rPr lang="en-US" dirty="0" smtClean="0"/>
              <a:t>Bot accounts: 27,920 (13.96%) — Minority class</a:t>
            </a:r>
          </a:p>
          <a:p>
            <a:pPr marL="285750" lvl="0" indent="-285750" algn="just">
              <a:buFont typeface="Arial" panose="020B0604020202020204" pitchFamily="34" charset="0"/>
              <a:buChar char="•"/>
            </a:pPr>
            <a:r>
              <a:rPr lang="en-US" dirty="0" smtClean="0"/>
              <a:t>Class </a:t>
            </a:r>
            <a:r>
              <a:rPr lang="en-US" dirty="0"/>
              <a:t>imbalance ratio: 6.16 : 1 (Human : Bot)</a:t>
            </a:r>
          </a:p>
          <a:p>
            <a:pPr marL="285750" lvl="0" indent="-285750" algn="just">
              <a:buFont typeface="Arial" panose="020B0604020202020204" pitchFamily="34" charset="0"/>
              <a:buChar char="•"/>
            </a:pPr>
            <a:r>
              <a:rPr lang="en-US" dirty="0"/>
              <a:t>Train split: 160,000 accounts (80%)</a:t>
            </a:r>
          </a:p>
          <a:p>
            <a:pPr marL="285750" lvl="0" indent="-285750" algn="just">
              <a:buFont typeface="Arial" panose="020B0604020202020204" pitchFamily="34" charset="0"/>
              <a:buChar char="•"/>
            </a:pPr>
            <a:r>
              <a:rPr lang="en-US" dirty="0"/>
              <a:t>Test split: 40,000 accounts (20%) — 34,340 Human | 5,660 </a:t>
            </a:r>
            <a:r>
              <a:rPr lang="en-US" dirty="0" smtClean="0"/>
              <a:t>Bot</a:t>
            </a:r>
            <a:endParaRPr lang="en-US" dirty="0"/>
          </a:p>
        </p:txBody>
      </p:sp>
      <p:sp>
        <p:nvSpPr>
          <p:cNvPr id="7" name="TextBox 6"/>
          <p:cNvSpPr txBox="1"/>
          <p:nvPr/>
        </p:nvSpPr>
        <p:spPr>
          <a:xfrm>
            <a:off x="346508" y="3704917"/>
            <a:ext cx="5659655" cy="2954655"/>
          </a:xfrm>
          <a:prstGeom prst="rect">
            <a:avLst/>
          </a:prstGeom>
          <a:noFill/>
          <a:ln>
            <a:noFill/>
          </a:ln>
        </p:spPr>
        <p:txBody>
          <a:bodyPr wrap="square" rtlCol="0">
            <a:spAutoFit/>
          </a:bodyPr>
          <a:lstStyle/>
          <a:p>
            <a:pPr algn="just"/>
            <a:r>
              <a:rPr lang="en-US" sz="1600" b="1" dirty="0"/>
              <a:t>9 Engineered </a:t>
            </a:r>
            <a:r>
              <a:rPr lang="en-US" sz="1600" b="1" dirty="0" smtClean="0"/>
              <a:t>Features</a:t>
            </a:r>
          </a:p>
          <a:p>
            <a:pPr algn="just"/>
            <a:endParaRPr lang="en-US" sz="1600" dirty="0"/>
          </a:p>
          <a:p>
            <a:pPr marL="285750" lvl="0" indent="-285750" algn="just">
              <a:buFont typeface="Arial" panose="020B0604020202020204" pitchFamily="34" charset="0"/>
              <a:buChar char="•"/>
            </a:pPr>
            <a:r>
              <a:rPr lang="en-US" dirty="0" err="1"/>
              <a:t>followers_count</a:t>
            </a:r>
            <a:r>
              <a:rPr lang="en-US" dirty="0"/>
              <a:t> — Low counts = new bots; high = purchased followers</a:t>
            </a:r>
          </a:p>
          <a:p>
            <a:pPr marL="285750" lvl="0" indent="-285750" algn="just">
              <a:buFont typeface="Arial" panose="020B0604020202020204" pitchFamily="34" charset="0"/>
              <a:buChar char="•"/>
            </a:pPr>
            <a:r>
              <a:rPr lang="en-US" dirty="0" err="1"/>
              <a:t>friends_count</a:t>
            </a:r>
            <a:r>
              <a:rPr lang="en-US" dirty="0"/>
              <a:t> — Mass-following bots have abnormally high values</a:t>
            </a:r>
          </a:p>
          <a:p>
            <a:pPr marL="285750" lvl="0" indent="-285750" algn="just">
              <a:buFont typeface="Arial" panose="020B0604020202020204" pitchFamily="34" charset="0"/>
              <a:buChar char="•"/>
            </a:pPr>
            <a:r>
              <a:rPr lang="en-US" dirty="0" err="1"/>
              <a:t>statuses_count</a:t>
            </a:r>
            <a:r>
              <a:rPr lang="en-US" dirty="0"/>
              <a:t> — Extremely high (automated) or zero (dormant)</a:t>
            </a:r>
          </a:p>
          <a:p>
            <a:pPr marL="285750" lvl="0" indent="-285750" algn="just">
              <a:buFont typeface="Arial" panose="020B0604020202020204" pitchFamily="34" charset="0"/>
              <a:buChar char="•"/>
            </a:pPr>
            <a:r>
              <a:rPr lang="en-US" dirty="0"/>
              <a:t>verified — Bots are almost never verified (binary: 0/1)</a:t>
            </a:r>
          </a:p>
          <a:p>
            <a:pPr marL="285750" lvl="0" indent="-285750" algn="just">
              <a:buFont typeface="Arial" panose="020B0604020202020204" pitchFamily="34" charset="0"/>
              <a:buChar char="•"/>
            </a:pPr>
            <a:r>
              <a:rPr lang="en-US" dirty="0"/>
              <a:t>protected — Bots rarely protect accounts (binary: 0/1)</a:t>
            </a:r>
          </a:p>
          <a:p>
            <a:pPr marL="285750" lvl="0" indent="-285750" algn="just">
              <a:buFont typeface="Arial" panose="020B0604020202020204" pitchFamily="34" charset="0"/>
              <a:buChar char="•"/>
            </a:pPr>
            <a:r>
              <a:rPr lang="en-US" dirty="0" err="1"/>
              <a:t>desc_length</a:t>
            </a:r>
            <a:r>
              <a:rPr lang="en-US" dirty="0"/>
              <a:t> — Empty bios common in bot accounts</a:t>
            </a:r>
          </a:p>
          <a:p>
            <a:pPr marL="285750" lvl="0" indent="-285750" algn="just">
              <a:buFont typeface="Arial" panose="020B0604020202020204" pitchFamily="34" charset="0"/>
              <a:buChar char="•"/>
            </a:pPr>
            <a:r>
              <a:rPr lang="en-US" dirty="0" err="1"/>
              <a:t>username_length</a:t>
            </a:r>
            <a:r>
              <a:rPr lang="en-US" dirty="0"/>
              <a:t> — Auto-generated names tend to be longer</a:t>
            </a:r>
          </a:p>
          <a:p>
            <a:pPr marL="285750" lvl="0" indent="-285750" algn="just">
              <a:buFont typeface="Arial" panose="020B0604020202020204" pitchFamily="34" charset="0"/>
              <a:buChar char="•"/>
            </a:pPr>
            <a:r>
              <a:rPr lang="en-US" dirty="0" err="1"/>
              <a:t>ff_ratio</a:t>
            </a:r>
            <a:r>
              <a:rPr lang="en-US" dirty="0"/>
              <a:t> — followers / (following + 1), near-zero for bots</a:t>
            </a:r>
          </a:p>
          <a:p>
            <a:pPr marL="285750" lvl="0" indent="-285750" algn="just">
              <a:buFont typeface="Arial" panose="020B0604020202020204" pitchFamily="34" charset="0"/>
              <a:buChar char="•"/>
            </a:pPr>
            <a:r>
              <a:rPr lang="en-US" dirty="0" err="1"/>
              <a:t>account_age_days</a:t>
            </a:r>
            <a:r>
              <a:rPr lang="en-US" dirty="0"/>
              <a:t> — Bot campaigns create accounts in bulk</a:t>
            </a:r>
          </a:p>
        </p:txBody>
      </p:sp>
      <p:pic>
        <p:nvPicPr>
          <p:cNvPr id="8" name="Picture 7"/>
          <p:cNvPicPr/>
          <p:nvPr/>
        </p:nvPicPr>
        <p:blipFill>
          <a:blip r:embed="rId4"/>
          <a:srcRect/>
          <a:stretch>
            <a:fillRect/>
          </a:stretch>
        </p:blipFill>
        <p:spPr bwMode="auto">
          <a:xfrm>
            <a:off x="6198870" y="1417637"/>
            <a:ext cx="5322570" cy="4475163"/>
          </a:xfrm>
          <a:prstGeom prst="rect">
            <a:avLst/>
          </a:prstGeom>
        </p:spPr>
      </p:pic>
      <p:sp>
        <p:nvSpPr>
          <p:cNvPr id="3" name="TextBox 2"/>
          <p:cNvSpPr txBox="1"/>
          <p:nvPr/>
        </p:nvSpPr>
        <p:spPr>
          <a:xfrm>
            <a:off x="6918627" y="5892800"/>
            <a:ext cx="4795520" cy="461665"/>
          </a:xfrm>
          <a:prstGeom prst="rect">
            <a:avLst/>
          </a:prstGeom>
          <a:noFill/>
        </p:spPr>
        <p:txBody>
          <a:bodyPr wrap="square" rtlCol="0">
            <a:spAutoFit/>
          </a:bodyPr>
          <a:lstStyle/>
          <a:p>
            <a:r>
              <a:rPr lang="en-US" sz="1200" i="1" dirty="0"/>
              <a:t>Fig 1: Class Distribution — 0 = Human (86%), 1 = Bot (14%). Shows severe class imbalance.</a:t>
            </a:r>
            <a:endParaRPr lang="en-US" sz="1200" dirty="0"/>
          </a:p>
        </p:txBody>
      </p:sp>
    </p:spTree>
    <p:extLst>
      <p:ext uri="{BB962C8B-B14F-4D97-AF65-F5344CB8AC3E}">
        <p14:creationId xmlns:p14="http://schemas.microsoft.com/office/powerpoint/2010/main" val="38042117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616017" y="165068"/>
            <a:ext cx="8030143" cy="830997"/>
          </a:xfrm>
          <a:prstGeom prst="rect">
            <a:avLst/>
          </a:prstGeom>
          <a:noFill/>
        </p:spPr>
        <p:txBody>
          <a:bodyPr wrap="square" rtlCol="0">
            <a:spAutoFit/>
          </a:bodyPr>
          <a:lstStyle/>
          <a:p>
            <a:r>
              <a:rPr lang="en-US" sz="2400" b="1" dirty="0">
                <a:solidFill>
                  <a:schemeClr val="accent1"/>
                </a:solidFill>
              </a:rPr>
              <a:t>Results: Confusion Matrices — Logistic Regression vs Random Forest</a:t>
            </a:r>
            <a:endParaRPr lang="en-US" sz="2400" b="1" dirty="0">
              <a:solidFill>
                <a:schemeClr val="accent1"/>
              </a:solidFill>
            </a:endParaRPr>
          </a:p>
        </p:txBody>
      </p:sp>
      <p:sp>
        <p:nvSpPr>
          <p:cNvPr id="4" name="TextBox 3"/>
          <p:cNvSpPr txBox="1"/>
          <p:nvPr/>
        </p:nvSpPr>
        <p:spPr>
          <a:xfrm>
            <a:off x="434205" y="1305293"/>
            <a:ext cx="5659655" cy="2308324"/>
          </a:xfrm>
          <a:prstGeom prst="rect">
            <a:avLst/>
          </a:prstGeom>
          <a:noFill/>
          <a:ln>
            <a:noFill/>
          </a:ln>
        </p:spPr>
        <p:txBody>
          <a:bodyPr wrap="square" rtlCol="0">
            <a:spAutoFit/>
          </a:bodyPr>
          <a:lstStyle/>
          <a:p>
            <a:pPr algn="just"/>
            <a:r>
              <a:rPr lang="en-US" sz="1600" b="1" dirty="0"/>
              <a:t>Logistic Regression (Linear Baseline</a:t>
            </a:r>
            <a:r>
              <a:rPr lang="en-US" sz="1600" b="1" dirty="0" smtClean="0"/>
              <a:t>)</a:t>
            </a:r>
          </a:p>
          <a:p>
            <a:pPr algn="just"/>
            <a:endParaRPr lang="en-US" sz="1600" dirty="0"/>
          </a:p>
          <a:p>
            <a:pPr marL="285750" lvl="0" indent="-285750" algn="just">
              <a:buFont typeface="Arial" panose="020B0604020202020204" pitchFamily="34" charset="0"/>
              <a:buChar char="•"/>
            </a:pPr>
            <a:r>
              <a:rPr lang="en-US" dirty="0"/>
              <a:t>Overall Accuracy: 85.5%</a:t>
            </a:r>
          </a:p>
          <a:p>
            <a:pPr marL="285750" lvl="0" indent="-285750" algn="just">
              <a:buFont typeface="Arial" panose="020B0604020202020204" pitchFamily="34" charset="0"/>
              <a:buChar char="•"/>
            </a:pPr>
            <a:r>
              <a:rPr lang="en-US" dirty="0"/>
              <a:t>Bot Precision: 0.43   Bot Recall: 0.08 ✗   Bot F1: 0.13 ✗</a:t>
            </a:r>
          </a:p>
          <a:p>
            <a:pPr marL="285750" lvl="0" indent="-285750" algn="just">
              <a:buFont typeface="Arial" panose="020B0604020202020204" pitchFamily="34" charset="0"/>
              <a:buChar char="•"/>
            </a:pPr>
            <a:r>
              <a:rPr lang="en-US" dirty="0"/>
              <a:t>True Negatives (correctly classified humans): 33,624</a:t>
            </a:r>
          </a:p>
          <a:p>
            <a:pPr marL="285750" lvl="0" indent="-285750" algn="just">
              <a:buFont typeface="Arial" panose="020B0604020202020204" pitchFamily="34" charset="0"/>
              <a:buChar char="•"/>
            </a:pPr>
            <a:r>
              <a:rPr lang="en-US" dirty="0"/>
              <a:t>False Positives (humans flagged as bots): 716</a:t>
            </a:r>
          </a:p>
          <a:p>
            <a:pPr marL="285750" lvl="0" indent="-285750" algn="just">
              <a:buFont typeface="Arial" panose="020B0604020202020204" pitchFamily="34" charset="0"/>
              <a:buChar char="•"/>
            </a:pPr>
            <a:r>
              <a:rPr lang="en-US" dirty="0"/>
              <a:t>False Negatives (bots missed): 5,207</a:t>
            </a:r>
          </a:p>
          <a:p>
            <a:pPr marL="285750" lvl="0" indent="-285750" algn="just">
              <a:buFont typeface="Arial" panose="020B0604020202020204" pitchFamily="34" charset="0"/>
              <a:buChar char="•"/>
            </a:pPr>
            <a:r>
              <a:rPr lang="en-US" dirty="0"/>
              <a:t>True Positives (bots correctly caught): 453</a:t>
            </a:r>
          </a:p>
          <a:p>
            <a:pPr marL="285750" lvl="0" indent="-285750" algn="just">
              <a:buFont typeface="Arial" panose="020B0604020202020204" pitchFamily="34" charset="0"/>
              <a:buChar char="•"/>
            </a:pPr>
            <a:r>
              <a:rPr lang="en-US" dirty="0"/>
              <a:t>Key finding: Model defaults to predicting 'human' for almost all accounts</a:t>
            </a:r>
          </a:p>
        </p:txBody>
      </p:sp>
      <p:sp>
        <p:nvSpPr>
          <p:cNvPr id="5" name="TextBox 4"/>
          <p:cNvSpPr txBox="1"/>
          <p:nvPr/>
        </p:nvSpPr>
        <p:spPr>
          <a:xfrm>
            <a:off x="6425397" y="1305293"/>
            <a:ext cx="5111016" cy="2092881"/>
          </a:xfrm>
          <a:prstGeom prst="rect">
            <a:avLst/>
          </a:prstGeom>
          <a:noFill/>
          <a:ln>
            <a:noFill/>
          </a:ln>
        </p:spPr>
        <p:txBody>
          <a:bodyPr wrap="square" rtlCol="0">
            <a:spAutoFit/>
          </a:bodyPr>
          <a:lstStyle/>
          <a:p>
            <a:pPr algn="just"/>
            <a:r>
              <a:rPr lang="en-US" sz="1600" b="1" dirty="0"/>
              <a:t>Random Forest (Balanced, 150 trees</a:t>
            </a:r>
            <a:r>
              <a:rPr lang="en-US" sz="1600" b="1" dirty="0" smtClean="0"/>
              <a:t>)</a:t>
            </a:r>
          </a:p>
          <a:p>
            <a:pPr algn="just"/>
            <a:endParaRPr lang="en-US" sz="1600" dirty="0"/>
          </a:p>
          <a:p>
            <a:pPr marL="285750" lvl="0" indent="-285750" algn="just">
              <a:buFont typeface="Arial" panose="020B0604020202020204" pitchFamily="34" charset="0"/>
              <a:buChar char="•"/>
            </a:pPr>
            <a:r>
              <a:rPr lang="en-US" dirty="0"/>
              <a:t>Overall Accuracy: 84.8%</a:t>
            </a:r>
          </a:p>
          <a:p>
            <a:pPr marL="285750" lvl="0" indent="-285750" algn="just">
              <a:buFont typeface="Arial" panose="020B0604020202020204" pitchFamily="34" charset="0"/>
              <a:buChar char="•"/>
            </a:pPr>
            <a:r>
              <a:rPr lang="en-US" dirty="0"/>
              <a:t>Bot Precision: 0.41   Bot Recall: 0.17 ✗   Bot F1: 0.23 ✗</a:t>
            </a:r>
          </a:p>
          <a:p>
            <a:pPr marL="285750" lvl="0" indent="-285750" algn="just">
              <a:buFont typeface="Arial" panose="020B0604020202020204" pitchFamily="34" charset="0"/>
              <a:buChar char="•"/>
            </a:pPr>
            <a:r>
              <a:rPr lang="en-US" dirty="0"/>
              <a:t>True Negatives: 32,650   False Positives: 1,690</a:t>
            </a:r>
          </a:p>
          <a:p>
            <a:pPr marL="285750" lvl="0" indent="-285750" algn="just">
              <a:buFont typeface="Arial" panose="020B0604020202020204" pitchFamily="34" charset="0"/>
              <a:buChar char="•"/>
            </a:pPr>
            <a:r>
              <a:rPr lang="en-US" dirty="0"/>
              <a:t>False Negatives: 4,649   True Positives: 1,011</a:t>
            </a:r>
          </a:p>
          <a:p>
            <a:pPr marL="285750" lvl="0" indent="-285750" algn="just">
              <a:buFont typeface="Arial" panose="020B0604020202020204" pitchFamily="34" charset="0"/>
              <a:buChar char="•"/>
            </a:pPr>
            <a:r>
              <a:rPr lang="en-US" dirty="0"/>
              <a:t>Improvement: 2× more bots detected vs Logistic Regression</a:t>
            </a:r>
          </a:p>
          <a:p>
            <a:pPr marL="285750" lvl="0" indent="-285750" algn="just">
              <a:buFont typeface="Arial" panose="020B0604020202020204" pitchFamily="34" charset="0"/>
              <a:buChar char="•"/>
            </a:pPr>
            <a:r>
              <a:rPr lang="en-US" dirty="0"/>
              <a:t>Still poor: 4,649 of 5,660 bots are missed</a:t>
            </a:r>
          </a:p>
        </p:txBody>
      </p:sp>
      <p:pic>
        <p:nvPicPr>
          <p:cNvPr id="7" name="Picture 6"/>
          <p:cNvPicPr/>
          <p:nvPr/>
        </p:nvPicPr>
        <p:blipFill>
          <a:blip r:embed="rId4"/>
          <a:srcRect/>
          <a:stretch>
            <a:fillRect/>
          </a:stretch>
        </p:blipFill>
        <p:spPr bwMode="auto">
          <a:xfrm>
            <a:off x="434205" y="3613617"/>
            <a:ext cx="5144702" cy="2505719"/>
          </a:xfrm>
          <a:prstGeom prst="rect">
            <a:avLst/>
          </a:prstGeom>
        </p:spPr>
      </p:pic>
      <p:sp>
        <p:nvSpPr>
          <p:cNvPr id="3" name="TextBox 2"/>
          <p:cNvSpPr txBox="1"/>
          <p:nvPr/>
        </p:nvSpPr>
        <p:spPr>
          <a:xfrm>
            <a:off x="772160" y="6119336"/>
            <a:ext cx="5506720" cy="646331"/>
          </a:xfrm>
          <a:prstGeom prst="rect">
            <a:avLst/>
          </a:prstGeom>
          <a:noFill/>
        </p:spPr>
        <p:txBody>
          <a:bodyPr wrap="square" rtlCol="0">
            <a:spAutoFit/>
          </a:bodyPr>
          <a:lstStyle/>
          <a:p>
            <a:r>
              <a:rPr lang="en-US" sz="1200" i="1" dirty="0"/>
              <a:t>Fig 2: Confusion Matrix — Logistic Regression. Only 453 of 5,660 bots detected (8% recall).</a:t>
            </a:r>
            <a:endParaRPr lang="en-US" sz="1200" dirty="0"/>
          </a:p>
          <a:p>
            <a:endParaRPr lang="en-US" sz="1200" dirty="0"/>
          </a:p>
        </p:txBody>
      </p:sp>
      <p:pic>
        <p:nvPicPr>
          <p:cNvPr id="8" name="Picture 7"/>
          <p:cNvPicPr/>
          <p:nvPr/>
        </p:nvPicPr>
        <p:blipFill>
          <a:blip r:embed="rId5"/>
          <a:srcRect/>
          <a:stretch>
            <a:fillRect/>
          </a:stretch>
        </p:blipFill>
        <p:spPr bwMode="auto">
          <a:xfrm>
            <a:off x="6425397" y="3613617"/>
            <a:ext cx="4918710" cy="2505719"/>
          </a:xfrm>
          <a:prstGeom prst="rect">
            <a:avLst/>
          </a:prstGeom>
        </p:spPr>
      </p:pic>
      <p:sp>
        <p:nvSpPr>
          <p:cNvPr id="9" name="TextBox 8"/>
          <p:cNvSpPr txBox="1"/>
          <p:nvPr/>
        </p:nvSpPr>
        <p:spPr>
          <a:xfrm>
            <a:off x="6616835" y="6119336"/>
            <a:ext cx="5004603" cy="646331"/>
          </a:xfrm>
          <a:prstGeom prst="rect">
            <a:avLst/>
          </a:prstGeom>
          <a:noFill/>
        </p:spPr>
        <p:txBody>
          <a:bodyPr wrap="square" rtlCol="0">
            <a:spAutoFit/>
          </a:bodyPr>
          <a:lstStyle/>
          <a:p>
            <a:r>
              <a:rPr lang="en-US" sz="1200" i="1" dirty="0"/>
              <a:t>Fig 3: Confusion Matrix — Random Forest (Balanced). Bot recall only 17%.</a:t>
            </a:r>
            <a:endParaRPr lang="en-US" sz="1200" dirty="0"/>
          </a:p>
          <a:p>
            <a:endParaRPr lang="en-US" sz="1200" dirty="0"/>
          </a:p>
        </p:txBody>
      </p:sp>
    </p:spTree>
    <p:extLst>
      <p:ext uri="{BB962C8B-B14F-4D97-AF65-F5344CB8AC3E}">
        <p14:creationId xmlns:p14="http://schemas.microsoft.com/office/powerpoint/2010/main" val="19396332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616017" y="231006"/>
            <a:ext cx="8202863" cy="830997"/>
          </a:xfrm>
          <a:prstGeom prst="rect">
            <a:avLst/>
          </a:prstGeom>
          <a:noFill/>
        </p:spPr>
        <p:txBody>
          <a:bodyPr wrap="square" rtlCol="0">
            <a:spAutoFit/>
          </a:bodyPr>
          <a:lstStyle/>
          <a:p>
            <a:r>
              <a:rPr lang="en-US" sz="2400" b="1" dirty="0">
                <a:solidFill>
                  <a:schemeClr val="accent1"/>
                </a:solidFill>
              </a:rPr>
              <a:t>Results: </a:t>
            </a:r>
            <a:r>
              <a:rPr lang="en-US" sz="2400" b="1" dirty="0" err="1">
                <a:solidFill>
                  <a:schemeClr val="accent1"/>
                </a:solidFill>
              </a:rPr>
              <a:t>XGBoost</a:t>
            </a:r>
            <a:r>
              <a:rPr lang="en-US" sz="2400" b="1" dirty="0">
                <a:solidFill>
                  <a:schemeClr val="accent1"/>
                </a:solidFill>
              </a:rPr>
              <a:t> — Best Performing Model (</a:t>
            </a:r>
            <a:r>
              <a:rPr lang="en-US" sz="2400" b="1" dirty="0" err="1">
                <a:solidFill>
                  <a:schemeClr val="accent1"/>
                </a:solidFill>
              </a:rPr>
              <a:t>scale_pos_weight</a:t>
            </a:r>
            <a:r>
              <a:rPr lang="en-US" sz="2400" b="1" dirty="0">
                <a:solidFill>
                  <a:schemeClr val="accent1"/>
                </a:solidFill>
              </a:rPr>
              <a:t>=3)</a:t>
            </a:r>
            <a:endParaRPr lang="en-US" sz="2400" b="1" dirty="0">
              <a:solidFill>
                <a:schemeClr val="accent1"/>
              </a:solidFill>
            </a:endParaRPr>
          </a:p>
        </p:txBody>
      </p:sp>
      <p:sp>
        <p:nvSpPr>
          <p:cNvPr id="4" name="TextBox 3"/>
          <p:cNvSpPr txBox="1"/>
          <p:nvPr/>
        </p:nvSpPr>
        <p:spPr>
          <a:xfrm>
            <a:off x="616017" y="1179088"/>
            <a:ext cx="5659655" cy="2308324"/>
          </a:xfrm>
          <a:prstGeom prst="rect">
            <a:avLst/>
          </a:prstGeom>
          <a:noFill/>
          <a:ln>
            <a:noFill/>
          </a:ln>
        </p:spPr>
        <p:txBody>
          <a:bodyPr wrap="square" rtlCol="0">
            <a:spAutoFit/>
          </a:bodyPr>
          <a:lstStyle/>
          <a:p>
            <a:pPr algn="just"/>
            <a:r>
              <a:rPr lang="en-US" sz="1600" b="1" dirty="0" err="1"/>
              <a:t>XGBoost</a:t>
            </a:r>
            <a:r>
              <a:rPr lang="en-US" sz="1600" b="1" dirty="0"/>
              <a:t> Results (Best Configuration</a:t>
            </a:r>
            <a:r>
              <a:rPr lang="en-US" sz="1600" b="1" dirty="0" smtClean="0"/>
              <a:t>)</a:t>
            </a:r>
          </a:p>
          <a:p>
            <a:pPr algn="just"/>
            <a:endParaRPr lang="en-US" sz="1600" dirty="0"/>
          </a:p>
          <a:p>
            <a:pPr marL="285750" lvl="0" indent="-285750" algn="just">
              <a:buFont typeface="Arial" panose="020B0604020202020204" pitchFamily="34" charset="0"/>
              <a:buChar char="•"/>
            </a:pPr>
            <a:r>
              <a:rPr lang="en-US" dirty="0" err="1"/>
              <a:t>scale_pos_weight</a:t>
            </a:r>
            <a:r>
              <a:rPr lang="en-US" dirty="0"/>
              <a:t> = 3  |  </a:t>
            </a:r>
            <a:r>
              <a:rPr lang="en-US" dirty="0" err="1"/>
              <a:t>n_estimators</a:t>
            </a:r>
            <a:r>
              <a:rPr lang="en-US" dirty="0"/>
              <a:t> = 300  |  </a:t>
            </a:r>
            <a:r>
              <a:rPr lang="en-US" dirty="0" err="1"/>
              <a:t>max_depth</a:t>
            </a:r>
            <a:r>
              <a:rPr lang="en-US" dirty="0"/>
              <a:t> = 4</a:t>
            </a:r>
          </a:p>
          <a:p>
            <a:pPr marL="285750" lvl="0" indent="-285750" algn="just">
              <a:buFont typeface="Arial" panose="020B0604020202020204" pitchFamily="34" charset="0"/>
              <a:buChar char="•"/>
            </a:pPr>
            <a:r>
              <a:rPr lang="en-US" dirty="0"/>
              <a:t>Overall Accuracy: 80.1%</a:t>
            </a:r>
          </a:p>
          <a:p>
            <a:pPr marL="285750" lvl="0" indent="-285750" algn="just">
              <a:buFont typeface="Arial" panose="020B0604020202020204" pitchFamily="34" charset="0"/>
              <a:buChar char="•"/>
            </a:pPr>
            <a:r>
              <a:rPr lang="en-US" dirty="0"/>
              <a:t>Bot Precision: 0.37   Bot Recall: 0.61 ✓   Bot F1: 0.46 ✓  ← BEST</a:t>
            </a:r>
          </a:p>
          <a:p>
            <a:pPr marL="285750" lvl="0" indent="-285750" algn="just">
              <a:buFont typeface="Arial" panose="020B0604020202020204" pitchFamily="34" charset="0"/>
              <a:buChar char="•"/>
            </a:pPr>
            <a:r>
              <a:rPr lang="en-US" dirty="0"/>
              <a:t>True Negatives: 28,516   False Positives: 5,824</a:t>
            </a:r>
          </a:p>
          <a:p>
            <a:pPr marL="285750" lvl="0" indent="-285750" algn="just">
              <a:buFont typeface="Arial" panose="020B0604020202020204" pitchFamily="34" charset="0"/>
              <a:buChar char="•"/>
            </a:pPr>
            <a:r>
              <a:rPr lang="en-US" dirty="0"/>
              <a:t>False Negatives: 2,207   True Positives: 3,453</a:t>
            </a:r>
          </a:p>
          <a:p>
            <a:pPr marL="285750" lvl="0" indent="-285750" algn="just">
              <a:buFont typeface="Arial" panose="020B0604020202020204" pitchFamily="34" charset="0"/>
              <a:buChar char="•"/>
            </a:pPr>
            <a:r>
              <a:rPr lang="en-US" dirty="0"/>
              <a:t>3,453 bots correctly detected — 3.6× improvement over Random Forest</a:t>
            </a:r>
          </a:p>
          <a:p>
            <a:pPr marL="285750" lvl="0" indent="-285750" algn="just">
              <a:buFont typeface="Arial" panose="020B0604020202020204" pitchFamily="34" charset="0"/>
              <a:buChar char="•"/>
            </a:pPr>
            <a:r>
              <a:rPr lang="en-US" dirty="0"/>
              <a:t>Threshold tuning: at threshold=0.3, bot recall rises to 0.81</a:t>
            </a:r>
          </a:p>
        </p:txBody>
      </p:sp>
      <p:sp>
        <p:nvSpPr>
          <p:cNvPr id="5" name="TextBox 4"/>
          <p:cNvSpPr txBox="1"/>
          <p:nvPr/>
        </p:nvSpPr>
        <p:spPr>
          <a:xfrm>
            <a:off x="6394917" y="1179088"/>
            <a:ext cx="5111016" cy="2092881"/>
          </a:xfrm>
          <a:prstGeom prst="rect">
            <a:avLst/>
          </a:prstGeom>
          <a:noFill/>
          <a:ln>
            <a:noFill/>
          </a:ln>
        </p:spPr>
        <p:txBody>
          <a:bodyPr wrap="square" rtlCol="0">
            <a:spAutoFit/>
          </a:bodyPr>
          <a:lstStyle/>
          <a:p>
            <a:pPr algn="just"/>
            <a:r>
              <a:rPr lang="en-US" sz="1600" b="1" dirty="0"/>
              <a:t>Top Features Identified by </a:t>
            </a:r>
            <a:r>
              <a:rPr lang="en-US" sz="1600" b="1" dirty="0" err="1" smtClean="0"/>
              <a:t>XGBoost</a:t>
            </a:r>
            <a:endParaRPr lang="en-US" sz="1600" b="1" dirty="0" smtClean="0"/>
          </a:p>
          <a:p>
            <a:pPr algn="just"/>
            <a:endParaRPr lang="en-US" sz="1600" dirty="0"/>
          </a:p>
          <a:p>
            <a:pPr marL="285750" lvl="0" indent="-285750" algn="just">
              <a:buFont typeface="Arial" panose="020B0604020202020204" pitchFamily="34" charset="0"/>
              <a:buChar char="•"/>
            </a:pPr>
            <a:r>
              <a:rPr lang="en-US" dirty="0" err="1"/>
              <a:t>followers_count</a:t>
            </a:r>
            <a:r>
              <a:rPr lang="en-US" dirty="0"/>
              <a:t> — Most important feature (~40% importance)</a:t>
            </a:r>
          </a:p>
          <a:p>
            <a:pPr marL="285750" lvl="0" indent="-285750" algn="just">
              <a:buFont typeface="Arial" panose="020B0604020202020204" pitchFamily="34" charset="0"/>
              <a:buChar char="•"/>
            </a:pPr>
            <a:r>
              <a:rPr lang="en-US" dirty="0"/>
              <a:t>verified — Second most important</a:t>
            </a:r>
          </a:p>
          <a:p>
            <a:pPr marL="285750" lvl="0" indent="-285750" algn="just">
              <a:buFont typeface="Arial" panose="020B0604020202020204" pitchFamily="34" charset="0"/>
              <a:buChar char="•"/>
            </a:pPr>
            <a:r>
              <a:rPr lang="en-US" dirty="0"/>
              <a:t>protected — Third</a:t>
            </a:r>
          </a:p>
          <a:p>
            <a:pPr marL="285750" lvl="0" indent="-285750" algn="just">
              <a:buFont typeface="Arial" panose="020B0604020202020204" pitchFamily="34" charset="0"/>
              <a:buChar char="•"/>
            </a:pPr>
            <a:r>
              <a:rPr lang="en-US" dirty="0" err="1"/>
              <a:t>statuses_count</a:t>
            </a:r>
            <a:r>
              <a:rPr lang="en-US" dirty="0"/>
              <a:t>, </a:t>
            </a:r>
            <a:r>
              <a:rPr lang="en-US" dirty="0" err="1"/>
              <a:t>friends_count</a:t>
            </a:r>
            <a:r>
              <a:rPr lang="en-US" dirty="0"/>
              <a:t> — Supporting features</a:t>
            </a:r>
          </a:p>
          <a:p>
            <a:pPr marL="285750" lvl="0" indent="-285750" algn="just">
              <a:buFont typeface="Arial" panose="020B0604020202020204" pitchFamily="34" charset="0"/>
              <a:buChar char="•"/>
            </a:pPr>
            <a:r>
              <a:rPr lang="en-US" dirty="0" err="1"/>
              <a:t>account_age_days</a:t>
            </a:r>
            <a:r>
              <a:rPr lang="en-US" dirty="0"/>
              <a:t> provides key temporal signal (bot campaigns create accounts in bulk)</a:t>
            </a:r>
          </a:p>
        </p:txBody>
      </p:sp>
      <p:pic>
        <p:nvPicPr>
          <p:cNvPr id="7" name="Picture 6"/>
          <p:cNvPicPr/>
          <p:nvPr/>
        </p:nvPicPr>
        <p:blipFill>
          <a:blip r:embed="rId4"/>
          <a:srcRect/>
          <a:stretch>
            <a:fillRect/>
          </a:stretch>
        </p:blipFill>
        <p:spPr bwMode="auto">
          <a:xfrm>
            <a:off x="1104900" y="3452119"/>
            <a:ext cx="4879340" cy="2582921"/>
          </a:xfrm>
          <a:prstGeom prst="rect">
            <a:avLst/>
          </a:prstGeom>
        </p:spPr>
      </p:pic>
      <p:sp>
        <p:nvSpPr>
          <p:cNvPr id="3" name="TextBox 2"/>
          <p:cNvSpPr txBox="1"/>
          <p:nvPr/>
        </p:nvSpPr>
        <p:spPr>
          <a:xfrm>
            <a:off x="857250" y="6045200"/>
            <a:ext cx="5374640" cy="461665"/>
          </a:xfrm>
          <a:prstGeom prst="rect">
            <a:avLst/>
          </a:prstGeom>
          <a:noFill/>
        </p:spPr>
        <p:txBody>
          <a:bodyPr wrap="square" rtlCol="0">
            <a:spAutoFit/>
          </a:bodyPr>
          <a:lstStyle/>
          <a:p>
            <a:r>
              <a:rPr lang="en-US" sz="1200" i="1" dirty="0"/>
              <a:t>Fig 4: Confusion Matrix — </a:t>
            </a:r>
            <a:r>
              <a:rPr lang="en-US" sz="1200" i="1" dirty="0" err="1"/>
              <a:t>XGBoost</a:t>
            </a:r>
            <a:r>
              <a:rPr lang="en-US" sz="1200" i="1" dirty="0"/>
              <a:t> (</a:t>
            </a:r>
            <a:r>
              <a:rPr lang="en-US" sz="1200" i="1" dirty="0" err="1"/>
              <a:t>scale_pos_weight</a:t>
            </a:r>
            <a:r>
              <a:rPr lang="en-US" sz="1200" i="1" dirty="0"/>
              <a:t>=3). Bot recall = 0.61, best F1 = 0.46.</a:t>
            </a:r>
            <a:endParaRPr lang="en-US" sz="1200" dirty="0"/>
          </a:p>
        </p:txBody>
      </p:sp>
      <p:pic>
        <p:nvPicPr>
          <p:cNvPr id="8" name="Picture 7"/>
          <p:cNvPicPr/>
          <p:nvPr/>
        </p:nvPicPr>
        <p:blipFill>
          <a:blip r:embed="rId5"/>
          <a:srcRect/>
          <a:stretch>
            <a:fillRect/>
          </a:stretch>
        </p:blipFill>
        <p:spPr bwMode="auto">
          <a:xfrm>
            <a:off x="6527732" y="3487412"/>
            <a:ext cx="4841307" cy="2547628"/>
          </a:xfrm>
          <a:prstGeom prst="rect">
            <a:avLst/>
          </a:prstGeom>
        </p:spPr>
      </p:pic>
      <p:sp>
        <p:nvSpPr>
          <p:cNvPr id="9" name="TextBox 8"/>
          <p:cNvSpPr txBox="1"/>
          <p:nvPr/>
        </p:nvSpPr>
        <p:spPr>
          <a:xfrm>
            <a:off x="6720773" y="6035040"/>
            <a:ext cx="4588043" cy="646331"/>
          </a:xfrm>
          <a:prstGeom prst="rect">
            <a:avLst/>
          </a:prstGeom>
          <a:noFill/>
        </p:spPr>
        <p:txBody>
          <a:bodyPr wrap="square" rtlCol="0">
            <a:spAutoFit/>
          </a:bodyPr>
          <a:lstStyle/>
          <a:p>
            <a:r>
              <a:rPr lang="en-US" sz="1200" i="1" dirty="0"/>
              <a:t>Fig 5: Feature Importance — </a:t>
            </a:r>
            <a:r>
              <a:rPr lang="en-US" sz="1200" i="1" dirty="0" err="1"/>
              <a:t>XGBoost</a:t>
            </a:r>
            <a:r>
              <a:rPr lang="en-US" sz="1200" i="1" dirty="0"/>
              <a:t>. </a:t>
            </a:r>
            <a:r>
              <a:rPr lang="en-US" sz="1200" i="1" dirty="0" err="1"/>
              <a:t>followers_count</a:t>
            </a:r>
            <a:r>
              <a:rPr lang="en-US" sz="1200" i="1" dirty="0"/>
              <a:t> and verified are top predictors.</a:t>
            </a:r>
            <a:endParaRPr lang="en-US" sz="1200" dirty="0"/>
          </a:p>
          <a:p>
            <a:endParaRPr lang="en-US" sz="1200" dirty="0"/>
          </a:p>
        </p:txBody>
      </p:sp>
    </p:spTree>
    <p:extLst>
      <p:ext uri="{BB962C8B-B14F-4D97-AF65-F5344CB8AC3E}">
        <p14:creationId xmlns:p14="http://schemas.microsoft.com/office/powerpoint/2010/main" val="16856693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616017" y="109086"/>
            <a:ext cx="8202863" cy="830997"/>
          </a:xfrm>
          <a:prstGeom prst="rect">
            <a:avLst/>
          </a:prstGeom>
          <a:noFill/>
        </p:spPr>
        <p:txBody>
          <a:bodyPr wrap="square" rtlCol="0">
            <a:spAutoFit/>
          </a:bodyPr>
          <a:lstStyle/>
          <a:p>
            <a:r>
              <a:rPr lang="en-US" sz="2400" b="1" dirty="0">
                <a:solidFill>
                  <a:schemeClr val="accent1"/>
                </a:solidFill>
              </a:rPr>
              <a:t>Results: </a:t>
            </a:r>
            <a:r>
              <a:rPr lang="en-US" sz="2400" b="1" dirty="0" err="1">
                <a:solidFill>
                  <a:schemeClr val="accent1"/>
                </a:solidFill>
              </a:rPr>
              <a:t>XGBoost</a:t>
            </a:r>
            <a:r>
              <a:rPr lang="en-US" sz="2400" b="1" dirty="0">
                <a:solidFill>
                  <a:schemeClr val="accent1"/>
                </a:solidFill>
              </a:rPr>
              <a:t> — ROC Curve, Precision-Recall &amp; Threshold Analysis</a:t>
            </a:r>
            <a:endParaRPr lang="en-US" sz="2400" b="1" dirty="0">
              <a:solidFill>
                <a:schemeClr val="accent1"/>
              </a:solidFill>
            </a:endParaRPr>
          </a:p>
        </p:txBody>
      </p:sp>
      <p:sp>
        <p:nvSpPr>
          <p:cNvPr id="4" name="TextBox 3"/>
          <p:cNvSpPr txBox="1"/>
          <p:nvPr/>
        </p:nvSpPr>
        <p:spPr>
          <a:xfrm>
            <a:off x="339022" y="1088155"/>
            <a:ext cx="3893955" cy="1661993"/>
          </a:xfrm>
          <a:prstGeom prst="rect">
            <a:avLst/>
          </a:prstGeom>
          <a:noFill/>
          <a:ln>
            <a:noFill/>
          </a:ln>
        </p:spPr>
        <p:txBody>
          <a:bodyPr wrap="square" rtlCol="0">
            <a:spAutoFit/>
          </a:bodyPr>
          <a:lstStyle/>
          <a:p>
            <a:pPr algn="just"/>
            <a:r>
              <a:rPr lang="en-US" sz="1600" b="1" dirty="0"/>
              <a:t>ROC </a:t>
            </a:r>
            <a:r>
              <a:rPr lang="en-US" sz="1600" b="1" dirty="0" smtClean="0"/>
              <a:t>Curve</a:t>
            </a:r>
          </a:p>
          <a:p>
            <a:pPr algn="just"/>
            <a:endParaRPr lang="en-US" sz="1600" dirty="0"/>
          </a:p>
          <a:p>
            <a:pPr marL="285750" lvl="0" indent="-285750" algn="just">
              <a:buFont typeface="Arial" panose="020B0604020202020204" pitchFamily="34" charset="0"/>
              <a:buChar char="•"/>
            </a:pPr>
            <a:r>
              <a:rPr lang="en-US" dirty="0"/>
              <a:t>AUC = 0.82 — Strong discriminative ability</a:t>
            </a:r>
          </a:p>
          <a:p>
            <a:pPr marL="285750" lvl="0" indent="-285750" algn="just">
              <a:buFont typeface="Arial" panose="020B0604020202020204" pitchFamily="34" charset="0"/>
              <a:buChar char="•"/>
            </a:pPr>
            <a:r>
              <a:rPr lang="en-US" dirty="0"/>
              <a:t>Model correctly ranks a random bot above a random human 82% of the time</a:t>
            </a:r>
          </a:p>
          <a:p>
            <a:pPr marL="285750" lvl="0" indent="-285750" algn="just">
              <a:buFont typeface="Arial" panose="020B0604020202020204" pitchFamily="34" charset="0"/>
              <a:buChar char="•"/>
            </a:pPr>
            <a:r>
              <a:rPr lang="en-US" dirty="0"/>
              <a:t>Curve is well above the random baseline diagonal</a:t>
            </a:r>
          </a:p>
        </p:txBody>
      </p:sp>
      <p:sp>
        <p:nvSpPr>
          <p:cNvPr id="5" name="TextBox 4"/>
          <p:cNvSpPr txBox="1"/>
          <p:nvPr/>
        </p:nvSpPr>
        <p:spPr>
          <a:xfrm>
            <a:off x="4376018" y="1133592"/>
            <a:ext cx="3531403" cy="1877437"/>
          </a:xfrm>
          <a:prstGeom prst="rect">
            <a:avLst/>
          </a:prstGeom>
          <a:noFill/>
          <a:ln>
            <a:noFill/>
          </a:ln>
        </p:spPr>
        <p:txBody>
          <a:bodyPr wrap="square" rtlCol="0">
            <a:spAutoFit/>
          </a:bodyPr>
          <a:lstStyle/>
          <a:p>
            <a:pPr algn="just"/>
            <a:r>
              <a:rPr lang="en-US" sz="1600" b="1" dirty="0"/>
              <a:t>Precision-Recall Curve </a:t>
            </a:r>
            <a:endParaRPr lang="en-US" sz="1600" b="1" dirty="0" smtClean="0"/>
          </a:p>
          <a:p>
            <a:pPr algn="just"/>
            <a:endParaRPr lang="en-US" sz="1600" dirty="0"/>
          </a:p>
          <a:p>
            <a:pPr marL="285750" lvl="0" indent="-285750" algn="just">
              <a:buFont typeface="Arial" panose="020B0604020202020204" pitchFamily="34" charset="0"/>
              <a:buChar char="•"/>
            </a:pPr>
            <a:r>
              <a:rPr lang="en-US" dirty="0"/>
              <a:t>AUC = 0.40 — Reflects challenge of imbalanced classification</a:t>
            </a:r>
          </a:p>
          <a:p>
            <a:pPr marL="285750" lvl="0" indent="-285750" algn="just">
              <a:buFont typeface="Arial" panose="020B0604020202020204" pitchFamily="34" charset="0"/>
              <a:buChar char="•"/>
            </a:pPr>
            <a:r>
              <a:rPr lang="en-US" dirty="0"/>
              <a:t>High precision only achievable at low recall levels</a:t>
            </a:r>
          </a:p>
          <a:p>
            <a:pPr marL="285750" lvl="0" indent="-285750" algn="just">
              <a:buFont typeface="Arial" panose="020B0604020202020204" pitchFamily="34" charset="0"/>
              <a:buChar char="•"/>
            </a:pPr>
            <a:r>
              <a:rPr lang="en-US" dirty="0"/>
              <a:t>At recall = 0.61, precision = 0.37 (default threshold = 0.5)</a:t>
            </a:r>
          </a:p>
        </p:txBody>
      </p:sp>
      <p:pic>
        <p:nvPicPr>
          <p:cNvPr id="7" name="Picture 6"/>
          <p:cNvPicPr/>
          <p:nvPr/>
        </p:nvPicPr>
        <p:blipFill>
          <a:blip r:embed="rId4"/>
          <a:srcRect/>
          <a:stretch>
            <a:fillRect/>
          </a:stretch>
        </p:blipFill>
        <p:spPr bwMode="auto">
          <a:xfrm>
            <a:off x="308007" y="2769630"/>
            <a:ext cx="3751715" cy="3012290"/>
          </a:xfrm>
          <a:prstGeom prst="rect">
            <a:avLst/>
          </a:prstGeom>
        </p:spPr>
      </p:pic>
      <p:sp>
        <p:nvSpPr>
          <p:cNvPr id="3" name="TextBox 2"/>
          <p:cNvSpPr txBox="1"/>
          <p:nvPr/>
        </p:nvSpPr>
        <p:spPr>
          <a:xfrm>
            <a:off x="695423" y="5942126"/>
            <a:ext cx="3680595" cy="461665"/>
          </a:xfrm>
          <a:prstGeom prst="rect">
            <a:avLst/>
          </a:prstGeom>
          <a:noFill/>
        </p:spPr>
        <p:txBody>
          <a:bodyPr wrap="square" rtlCol="0">
            <a:spAutoFit/>
          </a:bodyPr>
          <a:lstStyle/>
          <a:p>
            <a:r>
              <a:rPr lang="en-US" sz="1200" i="1" dirty="0"/>
              <a:t>Fig 6: ROC Curve — </a:t>
            </a:r>
            <a:r>
              <a:rPr lang="en-US" sz="1200" i="1" dirty="0" err="1"/>
              <a:t>XGBoost</a:t>
            </a:r>
            <a:r>
              <a:rPr lang="en-US" sz="1200" i="1" dirty="0"/>
              <a:t>. AUC = 0.82.</a:t>
            </a:r>
            <a:endParaRPr lang="en-US" sz="1200" dirty="0"/>
          </a:p>
          <a:p>
            <a:endParaRPr lang="en-US" sz="1200" dirty="0"/>
          </a:p>
        </p:txBody>
      </p:sp>
      <p:pic>
        <p:nvPicPr>
          <p:cNvPr id="9" name="Picture 8"/>
          <p:cNvPicPr/>
          <p:nvPr/>
        </p:nvPicPr>
        <p:blipFill>
          <a:blip r:embed="rId5"/>
          <a:srcRect/>
          <a:stretch>
            <a:fillRect/>
          </a:stretch>
        </p:blipFill>
        <p:spPr bwMode="auto">
          <a:xfrm>
            <a:off x="4106513" y="2981466"/>
            <a:ext cx="3800908" cy="2729342"/>
          </a:xfrm>
          <a:prstGeom prst="rect">
            <a:avLst/>
          </a:prstGeom>
        </p:spPr>
      </p:pic>
      <p:sp>
        <p:nvSpPr>
          <p:cNvPr id="10" name="TextBox 9"/>
          <p:cNvSpPr txBox="1"/>
          <p:nvPr/>
        </p:nvSpPr>
        <p:spPr>
          <a:xfrm>
            <a:off x="4277359" y="5885056"/>
            <a:ext cx="3728720" cy="461665"/>
          </a:xfrm>
          <a:prstGeom prst="rect">
            <a:avLst/>
          </a:prstGeom>
          <a:noFill/>
        </p:spPr>
        <p:txBody>
          <a:bodyPr wrap="square" rtlCol="0">
            <a:spAutoFit/>
          </a:bodyPr>
          <a:lstStyle/>
          <a:p>
            <a:r>
              <a:rPr lang="en-US" sz="1200" i="1" dirty="0"/>
              <a:t>Fig 7: Precision-Recall Curve — </a:t>
            </a:r>
            <a:r>
              <a:rPr lang="en-US" sz="1200" i="1" dirty="0" err="1"/>
              <a:t>XGBoost</a:t>
            </a:r>
            <a:r>
              <a:rPr lang="en-US" sz="1200" i="1" dirty="0"/>
              <a:t>. Trade-off due to class imbalance</a:t>
            </a:r>
            <a:endParaRPr lang="en-US" sz="1200" dirty="0"/>
          </a:p>
        </p:txBody>
      </p:sp>
      <p:graphicFrame>
        <p:nvGraphicFramePr>
          <p:cNvPr id="11" name="Table 10"/>
          <p:cNvGraphicFramePr>
            <a:graphicFrameLocks noGrp="1"/>
          </p:cNvGraphicFramePr>
          <p:nvPr>
            <p:extLst>
              <p:ext uri="{D42A27DB-BD31-4B8C-83A1-F6EECF244321}">
                <p14:modId xmlns:p14="http://schemas.microsoft.com/office/powerpoint/2010/main" val="3902656216"/>
              </p:ext>
            </p:extLst>
          </p:nvPr>
        </p:nvGraphicFramePr>
        <p:xfrm>
          <a:off x="8006079" y="1472146"/>
          <a:ext cx="3850640" cy="2199640"/>
        </p:xfrm>
        <a:graphic>
          <a:graphicData uri="http://schemas.openxmlformats.org/drawingml/2006/table">
            <a:tbl>
              <a:tblPr firstRow="1" bandRow="1">
                <a:tableStyleId>{5C22544A-7EE6-4342-B048-85BDC9FD1C3A}</a:tableStyleId>
              </a:tblPr>
              <a:tblGrid>
                <a:gridCol w="770128"/>
                <a:gridCol w="770128"/>
                <a:gridCol w="770128"/>
                <a:gridCol w="770128"/>
                <a:gridCol w="770128"/>
              </a:tblGrid>
              <a:tr h="0">
                <a:tc>
                  <a:txBody>
                    <a:bodyPr/>
                    <a:lstStyle/>
                    <a:p>
                      <a:pPr algn="ctr"/>
                      <a:r>
                        <a:rPr lang="en-US" sz="1400" b="1" i="0" u="none" strike="noStrike" cap="none" dirty="0" smtClean="0">
                          <a:solidFill>
                            <a:schemeClr val="lt1"/>
                          </a:solidFill>
                          <a:effectLst/>
                          <a:latin typeface="+mn-lt"/>
                          <a:ea typeface="+mn-ea"/>
                          <a:cs typeface="+mn-cs"/>
                          <a:sym typeface="Arial" panose="020B0604020202020204"/>
                        </a:rPr>
                        <a:t>Threshold</a:t>
                      </a:r>
                      <a:endParaRPr lang="en-US" dirty="0"/>
                    </a:p>
                  </a:txBody>
                  <a:tcPr/>
                </a:tc>
                <a:tc>
                  <a:txBody>
                    <a:bodyPr/>
                    <a:lstStyle/>
                    <a:p>
                      <a:pPr algn="ctr"/>
                      <a:r>
                        <a:rPr lang="en-US" sz="1400" b="1" i="0" u="none" strike="noStrike" cap="none" dirty="0" smtClean="0">
                          <a:solidFill>
                            <a:schemeClr val="lt1"/>
                          </a:solidFill>
                          <a:effectLst/>
                          <a:latin typeface="+mn-lt"/>
                          <a:ea typeface="+mn-ea"/>
                          <a:cs typeface="+mn-cs"/>
                          <a:sym typeface="Arial" panose="020B0604020202020204"/>
                        </a:rPr>
                        <a:t>Accuracy</a:t>
                      </a:r>
                      <a:endParaRPr lang="en-US" dirty="0"/>
                    </a:p>
                  </a:txBody>
                  <a:tcPr/>
                </a:tc>
                <a:tc>
                  <a:txBody>
                    <a:bodyPr/>
                    <a:lstStyle/>
                    <a:p>
                      <a:pPr algn="ctr"/>
                      <a:r>
                        <a:rPr lang="en-US" sz="1400" b="1" i="0" u="none" strike="noStrike" cap="none" dirty="0" smtClean="0">
                          <a:solidFill>
                            <a:schemeClr val="lt1"/>
                          </a:solidFill>
                          <a:effectLst/>
                          <a:latin typeface="+mn-lt"/>
                          <a:ea typeface="+mn-ea"/>
                          <a:cs typeface="+mn-cs"/>
                          <a:sym typeface="Arial" panose="020B0604020202020204"/>
                        </a:rPr>
                        <a:t>Bot Precision</a:t>
                      </a:r>
                      <a:endParaRPr lang="en-US" dirty="0"/>
                    </a:p>
                  </a:txBody>
                  <a:tcPr/>
                </a:tc>
                <a:tc>
                  <a:txBody>
                    <a:bodyPr/>
                    <a:lstStyle/>
                    <a:p>
                      <a:pPr algn="ctr"/>
                      <a:r>
                        <a:rPr lang="en-US" sz="1400" b="1" i="0" u="none" strike="noStrike" cap="none" dirty="0" smtClean="0">
                          <a:solidFill>
                            <a:schemeClr val="lt1"/>
                          </a:solidFill>
                          <a:effectLst/>
                          <a:latin typeface="+mn-lt"/>
                          <a:ea typeface="+mn-ea"/>
                          <a:cs typeface="+mn-cs"/>
                          <a:sym typeface="Arial" panose="020B0604020202020204"/>
                        </a:rPr>
                        <a:t>Bot Recall</a:t>
                      </a:r>
                      <a:endParaRPr lang="en-US" dirty="0"/>
                    </a:p>
                  </a:txBody>
                  <a:tcPr/>
                </a:tc>
                <a:tc>
                  <a:txBody>
                    <a:bodyPr/>
                    <a:lstStyle/>
                    <a:p>
                      <a:pPr algn="ctr"/>
                      <a:r>
                        <a:rPr lang="en-US" sz="1400" b="1" i="0" u="none" strike="noStrike" cap="none" dirty="0" smtClean="0">
                          <a:solidFill>
                            <a:schemeClr val="lt1"/>
                          </a:solidFill>
                          <a:effectLst/>
                          <a:latin typeface="+mn-lt"/>
                          <a:ea typeface="+mn-ea"/>
                          <a:cs typeface="+mn-cs"/>
                          <a:sym typeface="Arial" panose="020B0604020202020204"/>
                        </a:rPr>
                        <a:t>Bot F1</a:t>
                      </a:r>
                      <a:endParaRPr lang="en-US" dirty="0"/>
                    </a:p>
                  </a:txBody>
                  <a:tcPr/>
                </a:tc>
              </a:tr>
              <a:tr h="370840">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0.5 (default)</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0.801</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0.37</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0.61</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0.46 ← Best F1</a:t>
                      </a:r>
                      <a:endParaRPr lang="en-US" sz="1200" b="0" dirty="0"/>
                    </a:p>
                  </a:txBody>
                  <a:tcPr/>
                </a:tc>
              </a:tr>
              <a:tr h="370840">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0.4</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0.763</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0.34</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0.73</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0.46</a:t>
                      </a:r>
                      <a:endParaRPr lang="en-US" sz="1200" b="0" dirty="0"/>
                    </a:p>
                  </a:txBody>
                  <a:tcPr/>
                </a:tc>
              </a:tr>
              <a:tr h="370840">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0.3 (aggressive)</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0.713</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0.30</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0.81 ← Max</a:t>
                      </a:r>
                      <a:endParaRPr lang="en-US" sz="1200" b="0" dirty="0"/>
                    </a:p>
                  </a:txBody>
                  <a:tcPr/>
                </a:tc>
                <a:tc>
                  <a:txBody>
                    <a:bodyPr/>
                    <a:lstStyle/>
                    <a:p>
                      <a:pPr algn="ctr"/>
                      <a:r>
                        <a:rPr lang="en-US" sz="1200" b="0" i="0" u="none" strike="noStrike" cap="none" dirty="0" smtClean="0">
                          <a:solidFill>
                            <a:schemeClr val="dk1"/>
                          </a:solidFill>
                          <a:effectLst/>
                          <a:latin typeface="+mn-lt"/>
                          <a:ea typeface="+mn-ea"/>
                          <a:cs typeface="+mn-cs"/>
                          <a:sym typeface="Arial" panose="020B0604020202020204"/>
                        </a:rPr>
                        <a:t>0.44</a:t>
                      </a:r>
                      <a:endParaRPr lang="en-US" sz="1200" b="0" dirty="0"/>
                    </a:p>
                  </a:txBody>
                  <a:tcPr/>
                </a:tc>
              </a:tr>
            </a:tbl>
          </a:graphicData>
        </a:graphic>
      </p:graphicFrame>
      <p:sp>
        <p:nvSpPr>
          <p:cNvPr id="12" name="TextBox 11"/>
          <p:cNvSpPr txBox="1"/>
          <p:nvPr/>
        </p:nvSpPr>
        <p:spPr>
          <a:xfrm>
            <a:off x="8097520" y="1133592"/>
            <a:ext cx="3643165" cy="338554"/>
          </a:xfrm>
          <a:prstGeom prst="rect">
            <a:avLst/>
          </a:prstGeom>
          <a:noFill/>
        </p:spPr>
        <p:txBody>
          <a:bodyPr wrap="square" rtlCol="0">
            <a:spAutoFit/>
          </a:bodyPr>
          <a:lstStyle/>
          <a:p>
            <a:r>
              <a:rPr lang="en-US" sz="1600" b="1" dirty="0"/>
              <a:t>Threshold Sensitivity Analysis </a:t>
            </a:r>
            <a:endParaRPr lang="en-US" sz="1600" dirty="0"/>
          </a:p>
        </p:txBody>
      </p:sp>
      <p:pic>
        <p:nvPicPr>
          <p:cNvPr id="13" name="Picture 12"/>
          <p:cNvPicPr/>
          <p:nvPr/>
        </p:nvPicPr>
        <p:blipFill>
          <a:blip r:embed="rId6"/>
          <a:srcRect/>
          <a:stretch>
            <a:fillRect/>
          </a:stretch>
        </p:blipFill>
        <p:spPr bwMode="auto">
          <a:xfrm>
            <a:off x="8097519" y="3733165"/>
            <a:ext cx="3759199" cy="2352675"/>
          </a:xfrm>
          <a:prstGeom prst="rect">
            <a:avLst/>
          </a:prstGeom>
        </p:spPr>
      </p:pic>
      <p:sp>
        <p:nvSpPr>
          <p:cNvPr id="14" name="TextBox 13"/>
          <p:cNvSpPr txBox="1"/>
          <p:nvPr/>
        </p:nvSpPr>
        <p:spPr>
          <a:xfrm>
            <a:off x="8196177" y="5952897"/>
            <a:ext cx="3312160" cy="461665"/>
          </a:xfrm>
          <a:prstGeom prst="rect">
            <a:avLst/>
          </a:prstGeom>
          <a:noFill/>
        </p:spPr>
        <p:txBody>
          <a:bodyPr wrap="square" rtlCol="0">
            <a:spAutoFit/>
          </a:bodyPr>
          <a:lstStyle/>
          <a:p>
            <a:r>
              <a:rPr lang="en-US" sz="1200" i="1" dirty="0"/>
              <a:t>Fig 8: Precision vs Recall vs Threshold — </a:t>
            </a:r>
            <a:r>
              <a:rPr lang="en-US" sz="1200" i="1" dirty="0" err="1"/>
              <a:t>XGBoost</a:t>
            </a:r>
            <a:r>
              <a:rPr lang="en-US" sz="1200" i="1" dirty="0"/>
              <a:t>. Lower threshold = higher bot recall.</a:t>
            </a:r>
            <a:endParaRPr lang="en-US" sz="1200" dirty="0"/>
          </a:p>
        </p:txBody>
      </p:sp>
    </p:spTree>
    <p:extLst>
      <p:ext uri="{BB962C8B-B14F-4D97-AF65-F5344CB8AC3E}">
        <p14:creationId xmlns:p14="http://schemas.microsoft.com/office/powerpoint/2010/main" val="39089930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575377" y="88766"/>
            <a:ext cx="8385743" cy="830997"/>
          </a:xfrm>
          <a:prstGeom prst="rect">
            <a:avLst/>
          </a:prstGeom>
          <a:noFill/>
        </p:spPr>
        <p:txBody>
          <a:bodyPr wrap="square" rtlCol="0">
            <a:spAutoFit/>
          </a:bodyPr>
          <a:lstStyle/>
          <a:p>
            <a:r>
              <a:rPr lang="en-US" sz="2400" b="1" dirty="0">
                <a:solidFill>
                  <a:schemeClr val="accent1"/>
                </a:solidFill>
              </a:rPr>
              <a:t>Results: GAT — Highest Bot Recall &amp; Final Model Comparison</a:t>
            </a:r>
            <a:endParaRPr lang="en-US" sz="2400" b="1" dirty="0">
              <a:solidFill>
                <a:schemeClr val="accent1"/>
              </a:solidFill>
            </a:endParaRPr>
          </a:p>
        </p:txBody>
      </p:sp>
      <p:sp>
        <p:nvSpPr>
          <p:cNvPr id="4" name="TextBox 3"/>
          <p:cNvSpPr txBox="1"/>
          <p:nvPr/>
        </p:nvSpPr>
        <p:spPr>
          <a:xfrm>
            <a:off x="424045" y="1091933"/>
            <a:ext cx="5659655" cy="3170099"/>
          </a:xfrm>
          <a:prstGeom prst="rect">
            <a:avLst/>
          </a:prstGeom>
          <a:noFill/>
          <a:ln>
            <a:noFill/>
          </a:ln>
        </p:spPr>
        <p:txBody>
          <a:bodyPr wrap="square" rtlCol="0">
            <a:spAutoFit/>
          </a:bodyPr>
          <a:lstStyle/>
          <a:p>
            <a:pPr algn="just"/>
            <a:r>
              <a:rPr lang="en-US" sz="1600" b="1" dirty="0"/>
              <a:t>Graph Attention Network (GAT) </a:t>
            </a:r>
            <a:r>
              <a:rPr lang="en-US" sz="1600" b="1" dirty="0" smtClean="0"/>
              <a:t>Results</a:t>
            </a:r>
          </a:p>
          <a:p>
            <a:pPr algn="just"/>
            <a:endParaRPr lang="en-US" sz="1600" dirty="0"/>
          </a:p>
          <a:p>
            <a:pPr marL="285750" lvl="0" indent="-285750" algn="just">
              <a:buFont typeface="Arial" panose="020B0604020202020204" pitchFamily="34" charset="0"/>
              <a:buChar char="•"/>
            </a:pPr>
            <a:r>
              <a:rPr lang="en-US" dirty="0"/>
              <a:t>Architecture: 3-layer GAT, 4 attention heads, dropout=0.6</a:t>
            </a:r>
          </a:p>
          <a:p>
            <a:pPr marL="285750" lvl="0" indent="-285750" algn="just">
              <a:buFont typeface="Arial" panose="020B0604020202020204" pitchFamily="34" charset="0"/>
              <a:buChar char="•"/>
            </a:pPr>
            <a:r>
              <a:rPr lang="en-US" dirty="0"/>
              <a:t>Trained on 50,000-node social graph with 200,000 edges</a:t>
            </a:r>
          </a:p>
          <a:p>
            <a:pPr marL="285750" lvl="0" indent="-285750" algn="just">
              <a:buFont typeface="Arial" panose="020B0604020202020204" pitchFamily="34" charset="0"/>
              <a:buChar char="•"/>
            </a:pPr>
            <a:r>
              <a:rPr lang="en-US" dirty="0"/>
              <a:t>Overall Accuracy: 79.3%</a:t>
            </a:r>
          </a:p>
          <a:p>
            <a:pPr marL="285750" lvl="0" indent="-285750" algn="just">
              <a:buFont typeface="Arial" panose="020B0604020202020204" pitchFamily="34" charset="0"/>
              <a:buChar char="•"/>
            </a:pPr>
            <a:r>
              <a:rPr lang="en-US" dirty="0"/>
              <a:t>Bot Recall: 0.75 ★ HIGHEST of all models</a:t>
            </a:r>
          </a:p>
          <a:p>
            <a:pPr marL="285750" lvl="0" indent="-285750" algn="just">
              <a:buFont typeface="Arial" panose="020B0604020202020204" pitchFamily="34" charset="0"/>
              <a:buChar char="•"/>
            </a:pPr>
            <a:r>
              <a:rPr lang="en-US" dirty="0"/>
              <a:t>Bot Precision: 0.31   Bot F1: 0.45</a:t>
            </a:r>
          </a:p>
          <a:p>
            <a:pPr marL="285750" lvl="0" indent="-285750" algn="just">
              <a:buFont typeface="Arial" panose="020B0604020202020204" pitchFamily="34" charset="0"/>
              <a:buChar char="•"/>
            </a:pPr>
            <a:r>
              <a:rPr lang="en-US" dirty="0"/>
              <a:t>True Negatives: 7,263   False Positives: 1,288</a:t>
            </a:r>
          </a:p>
          <a:p>
            <a:pPr marL="285750" lvl="0" indent="-285750" algn="just">
              <a:buFont typeface="Arial" panose="020B0604020202020204" pitchFamily="34" charset="0"/>
              <a:buChar char="•"/>
            </a:pPr>
            <a:r>
              <a:rPr lang="en-US" dirty="0"/>
              <a:t>True Positives: 1,087   False Negatives: 362</a:t>
            </a:r>
          </a:p>
          <a:p>
            <a:pPr marL="285750" lvl="0" indent="-285750" algn="just">
              <a:buFont typeface="Arial" panose="020B0604020202020204" pitchFamily="34" charset="0"/>
              <a:buChar char="•"/>
            </a:pPr>
            <a:r>
              <a:rPr lang="en-US" dirty="0"/>
              <a:t>GAT leverages social graph topology — detects bots from network patterns</a:t>
            </a:r>
          </a:p>
          <a:p>
            <a:pPr marL="285750" lvl="0" indent="-285750" algn="just">
              <a:buFont typeface="Arial" panose="020B0604020202020204" pitchFamily="34" charset="0"/>
              <a:buChar char="•"/>
            </a:pPr>
            <a:r>
              <a:rPr lang="en-US" dirty="0"/>
              <a:t>Best for high-sensitivity deployment where false positives are acceptable</a:t>
            </a:r>
          </a:p>
          <a:p>
            <a:pPr algn="just"/>
            <a:endParaRPr lang="en-US" dirty="0"/>
          </a:p>
        </p:txBody>
      </p:sp>
      <p:pic>
        <p:nvPicPr>
          <p:cNvPr id="7" name="Picture 6"/>
          <p:cNvPicPr/>
          <p:nvPr/>
        </p:nvPicPr>
        <p:blipFill>
          <a:blip r:embed="rId4"/>
          <a:srcRect/>
          <a:stretch>
            <a:fillRect/>
          </a:stretch>
        </p:blipFill>
        <p:spPr bwMode="auto">
          <a:xfrm>
            <a:off x="575377" y="4026546"/>
            <a:ext cx="4979670" cy="2352675"/>
          </a:xfrm>
          <a:prstGeom prst="rect">
            <a:avLst/>
          </a:prstGeom>
        </p:spPr>
      </p:pic>
      <p:sp>
        <p:nvSpPr>
          <p:cNvPr id="3" name="TextBox 2"/>
          <p:cNvSpPr txBox="1"/>
          <p:nvPr/>
        </p:nvSpPr>
        <p:spPr>
          <a:xfrm>
            <a:off x="623870" y="6282789"/>
            <a:ext cx="5195503" cy="646331"/>
          </a:xfrm>
          <a:prstGeom prst="rect">
            <a:avLst/>
          </a:prstGeom>
          <a:noFill/>
        </p:spPr>
        <p:txBody>
          <a:bodyPr wrap="square" rtlCol="0">
            <a:spAutoFit/>
          </a:bodyPr>
          <a:lstStyle/>
          <a:p>
            <a:r>
              <a:rPr lang="en-US" sz="1200" i="1" dirty="0"/>
              <a:t>Fig 9: Confusion Matrix — GAT. 1,087 of 1,449 bots detected (75% recall) — highest of all models.</a:t>
            </a:r>
            <a:endParaRPr lang="en-US" sz="1200" dirty="0"/>
          </a:p>
          <a:p>
            <a:endParaRPr lang="en-US" sz="1200" dirty="0"/>
          </a:p>
        </p:txBody>
      </p:sp>
      <p:pic>
        <p:nvPicPr>
          <p:cNvPr id="8" name="Picture 7"/>
          <p:cNvPicPr/>
          <p:nvPr/>
        </p:nvPicPr>
        <p:blipFill>
          <a:blip r:embed="rId5"/>
          <a:srcRect/>
          <a:stretch>
            <a:fillRect/>
          </a:stretch>
        </p:blipFill>
        <p:spPr bwMode="auto">
          <a:xfrm>
            <a:off x="6083700" y="1499147"/>
            <a:ext cx="5519020" cy="4621082"/>
          </a:xfrm>
          <a:prstGeom prst="rect">
            <a:avLst/>
          </a:prstGeom>
        </p:spPr>
      </p:pic>
      <p:sp>
        <p:nvSpPr>
          <p:cNvPr id="9" name="TextBox 8"/>
          <p:cNvSpPr txBox="1"/>
          <p:nvPr/>
        </p:nvSpPr>
        <p:spPr>
          <a:xfrm>
            <a:off x="6185300" y="6053282"/>
            <a:ext cx="5732380" cy="646331"/>
          </a:xfrm>
          <a:prstGeom prst="rect">
            <a:avLst/>
          </a:prstGeom>
          <a:noFill/>
        </p:spPr>
        <p:txBody>
          <a:bodyPr wrap="square" rtlCol="0">
            <a:spAutoFit/>
          </a:bodyPr>
          <a:lstStyle/>
          <a:p>
            <a:r>
              <a:rPr lang="en-US" sz="1200" i="1" dirty="0"/>
              <a:t>Fig 10: Final Model Comparison — Bot Recall and Bot F1 across all six models. </a:t>
            </a:r>
            <a:r>
              <a:rPr lang="en-US" sz="1200" i="1" dirty="0" err="1"/>
              <a:t>XGBoost</a:t>
            </a:r>
            <a:r>
              <a:rPr lang="en-US" sz="1200" i="1" dirty="0"/>
              <a:t> leads on F1; GAT leads on recall.</a:t>
            </a:r>
            <a:endParaRPr lang="en-US" sz="1200" dirty="0"/>
          </a:p>
          <a:p>
            <a:endParaRPr lang="en-US" sz="1200" dirty="0"/>
          </a:p>
        </p:txBody>
      </p:sp>
      <p:sp>
        <p:nvSpPr>
          <p:cNvPr id="10" name="TextBox 9"/>
          <p:cNvSpPr txBox="1"/>
          <p:nvPr/>
        </p:nvSpPr>
        <p:spPr>
          <a:xfrm>
            <a:off x="6395619" y="1091933"/>
            <a:ext cx="5131002" cy="338554"/>
          </a:xfrm>
          <a:prstGeom prst="rect">
            <a:avLst/>
          </a:prstGeom>
          <a:noFill/>
        </p:spPr>
        <p:txBody>
          <a:bodyPr wrap="square" rtlCol="0">
            <a:spAutoFit/>
          </a:bodyPr>
          <a:lstStyle/>
          <a:p>
            <a:r>
              <a:rPr lang="en-US" sz="1600" b="1" dirty="0"/>
              <a:t>Final Model Comparison Chart</a:t>
            </a:r>
            <a:endParaRPr lang="en-US" sz="1600" dirty="0"/>
          </a:p>
        </p:txBody>
      </p:sp>
    </p:spTree>
    <p:extLst>
      <p:ext uri="{BB962C8B-B14F-4D97-AF65-F5344CB8AC3E}">
        <p14:creationId xmlns:p14="http://schemas.microsoft.com/office/powerpoint/2010/main" val="17319372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406935" y="127267"/>
            <a:ext cx="8330665" cy="830997"/>
          </a:xfrm>
          <a:prstGeom prst="rect">
            <a:avLst/>
          </a:prstGeom>
          <a:noFill/>
        </p:spPr>
        <p:txBody>
          <a:bodyPr wrap="square" rtlCol="0">
            <a:spAutoFit/>
          </a:bodyPr>
          <a:lstStyle/>
          <a:p>
            <a:r>
              <a:rPr lang="en-US" sz="2400" b="1" dirty="0">
                <a:solidFill>
                  <a:schemeClr val="accent1"/>
                </a:solidFill>
              </a:rPr>
              <a:t>Results: Consolidated Performance Summary — All 6 Models</a:t>
            </a:r>
            <a:endParaRPr lang="en-US" sz="2400" b="1" dirty="0">
              <a:solidFill>
                <a:schemeClr val="accent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90130535"/>
              </p:ext>
            </p:extLst>
          </p:nvPr>
        </p:nvGraphicFramePr>
        <p:xfrm>
          <a:off x="690880" y="1767841"/>
          <a:ext cx="10515600" cy="4645985"/>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87969">
                <a:tc>
                  <a:txBody>
                    <a:bodyPr/>
                    <a:lstStyle/>
                    <a:p>
                      <a:pPr algn="ctr"/>
                      <a:r>
                        <a:rPr lang="en-US" sz="1600" b="1" i="0" u="none" strike="noStrike" cap="none" dirty="0" smtClean="0">
                          <a:solidFill>
                            <a:schemeClr val="lt1"/>
                          </a:solidFill>
                          <a:effectLst/>
                          <a:latin typeface="+mn-lt"/>
                          <a:ea typeface="+mn-ea"/>
                          <a:cs typeface="+mn-cs"/>
                          <a:sym typeface="Arial" panose="020B0604020202020204"/>
                        </a:rPr>
                        <a:t>Model</a:t>
                      </a:r>
                      <a:endParaRPr lang="en-US" sz="1600" dirty="0"/>
                    </a:p>
                  </a:txBody>
                  <a:tcPr/>
                </a:tc>
                <a:tc>
                  <a:txBody>
                    <a:bodyPr/>
                    <a:lstStyle/>
                    <a:p>
                      <a:pPr algn="ctr"/>
                      <a:r>
                        <a:rPr lang="en-US" sz="1600" b="1" i="0" u="none" strike="noStrike" cap="none" dirty="0" smtClean="0">
                          <a:solidFill>
                            <a:schemeClr val="lt1"/>
                          </a:solidFill>
                          <a:effectLst/>
                          <a:latin typeface="+mn-lt"/>
                          <a:ea typeface="+mn-ea"/>
                          <a:cs typeface="+mn-cs"/>
                          <a:sym typeface="Arial" panose="020B0604020202020204"/>
                        </a:rPr>
                        <a:t>Accuracy</a:t>
                      </a:r>
                      <a:endParaRPr lang="en-US" sz="1600" dirty="0"/>
                    </a:p>
                  </a:txBody>
                  <a:tcPr/>
                </a:tc>
                <a:tc>
                  <a:txBody>
                    <a:bodyPr/>
                    <a:lstStyle/>
                    <a:p>
                      <a:pPr algn="ctr"/>
                      <a:r>
                        <a:rPr lang="en-US" sz="1600" b="1" i="0" u="none" strike="noStrike" cap="none" dirty="0" smtClean="0">
                          <a:solidFill>
                            <a:schemeClr val="lt1"/>
                          </a:solidFill>
                          <a:effectLst/>
                          <a:latin typeface="+mn-lt"/>
                          <a:ea typeface="+mn-ea"/>
                          <a:cs typeface="+mn-cs"/>
                          <a:sym typeface="Arial" panose="020B0604020202020204"/>
                        </a:rPr>
                        <a:t>Bot P</a:t>
                      </a:r>
                      <a:endParaRPr lang="en-US" sz="1600" dirty="0"/>
                    </a:p>
                  </a:txBody>
                  <a:tcPr/>
                </a:tc>
                <a:tc>
                  <a:txBody>
                    <a:bodyPr/>
                    <a:lstStyle/>
                    <a:p>
                      <a:pPr algn="ctr"/>
                      <a:r>
                        <a:rPr lang="en-US" sz="1600" b="1" i="0" u="none" strike="noStrike" cap="none" dirty="0" smtClean="0">
                          <a:solidFill>
                            <a:schemeClr val="lt1"/>
                          </a:solidFill>
                          <a:effectLst/>
                          <a:latin typeface="+mn-lt"/>
                          <a:ea typeface="+mn-ea"/>
                          <a:cs typeface="+mn-cs"/>
                          <a:sym typeface="Arial" panose="020B0604020202020204"/>
                        </a:rPr>
                        <a:t>Bot Recall</a:t>
                      </a:r>
                      <a:endParaRPr lang="en-US" sz="1600" dirty="0"/>
                    </a:p>
                  </a:txBody>
                  <a:tcPr/>
                </a:tc>
                <a:tc>
                  <a:txBody>
                    <a:bodyPr/>
                    <a:lstStyle/>
                    <a:p>
                      <a:pPr algn="ctr"/>
                      <a:r>
                        <a:rPr lang="en-US" sz="1600" b="1" i="0" u="none" strike="noStrike" cap="none" dirty="0" smtClean="0">
                          <a:solidFill>
                            <a:schemeClr val="lt1"/>
                          </a:solidFill>
                          <a:effectLst/>
                          <a:latin typeface="+mn-lt"/>
                          <a:ea typeface="+mn-ea"/>
                          <a:cs typeface="+mn-cs"/>
                          <a:sym typeface="Arial" panose="020B0604020202020204"/>
                        </a:rPr>
                        <a:t>Bot F1</a:t>
                      </a:r>
                      <a:endParaRPr lang="en-US" sz="1600" dirty="0"/>
                    </a:p>
                  </a:txBody>
                  <a:tcPr/>
                </a:tc>
                <a:tc>
                  <a:txBody>
                    <a:bodyPr/>
                    <a:lstStyle/>
                    <a:p>
                      <a:pPr algn="ctr"/>
                      <a:r>
                        <a:rPr lang="en-US" sz="1600" b="1" i="0" u="none" strike="noStrike" cap="none" dirty="0" smtClean="0">
                          <a:solidFill>
                            <a:schemeClr val="lt1"/>
                          </a:solidFill>
                          <a:effectLst/>
                          <a:latin typeface="+mn-lt"/>
                          <a:ea typeface="+mn-ea"/>
                          <a:cs typeface="+mn-cs"/>
                          <a:sym typeface="Arial" panose="020B0604020202020204"/>
                        </a:rPr>
                        <a:t>Verdict</a:t>
                      </a:r>
                      <a:endParaRPr lang="en-US" sz="1600" dirty="0"/>
                    </a:p>
                  </a:txBody>
                  <a:tcPr/>
                </a:tc>
              </a:tr>
              <a:tr h="593696">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Logistic Regression</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0.855</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0.43</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0.08</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C0392B"/>
                          </a:solidFill>
                          <a:effectLst/>
                          <a:latin typeface="Calibri" panose="020F0502020204030204" pitchFamily="34" charset="0"/>
                          <a:ea typeface="Calibri" panose="020F0502020204030204" pitchFamily="34" charset="0"/>
                        </a:rPr>
                        <a:t>0.13</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 Weak baseline — misses 92% of bots</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r>
              <a:tr h="593696">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Random Forest</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000000"/>
                          </a:solidFill>
                          <a:effectLst/>
                          <a:latin typeface="Calibri" panose="020F0502020204030204" pitchFamily="34" charset="0"/>
                          <a:ea typeface="Calibri" panose="020F0502020204030204" pitchFamily="34" charset="0"/>
                        </a:rPr>
                        <a:t>0.848</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0.41</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0.17</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C0392B"/>
                          </a:solidFill>
                          <a:effectLst/>
                          <a:latin typeface="Calibri" panose="020F0502020204030204" pitchFamily="34" charset="0"/>
                          <a:ea typeface="Calibri" panose="020F0502020204030204" pitchFamily="34" charset="0"/>
                        </a:rPr>
                        <a:t>0.23</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 Poor bot detection — misses 83% of bots</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r>
              <a:tr h="935436">
                <a:tc>
                  <a:txBody>
                    <a:bodyPr/>
                    <a:lstStyle/>
                    <a:p>
                      <a:pPr marL="0" marR="0" algn="ctr">
                        <a:spcBef>
                          <a:spcPts val="0"/>
                        </a:spcBef>
                        <a:spcAft>
                          <a:spcPts val="0"/>
                        </a:spcAft>
                      </a:pPr>
                      <a:r>
                        <a:rPr lang="en-US" sz="1400" b="1" dirty="0" err="1">
                          <a:solidFill>
                            <a:srgbClr val="2D7D2D"/>
                          </a:solidFill>
                          <a:effectLst/>
                          <a:latin typeface="Calibri" panose="020F0502020204030204" pitchFamily="34" charset="0"/>
                          <a:ea typeface="Calibri" panose="020F0502020204030204" pitchFamily="34" charset="0"/>
                        </a:rPr>
                        <a:t>XGBoost</a:t>
                      </a:r>
                      <a:r>
                        <a:rPr lang="en-US" sz="1400" b="1" dirty="0">
                          <a:solidFill>
                            <a:srgbClr val="2D7D2D"/>
                          </a:solidFill>
                          <a:effectLst/>
                          <a:latin typeface="Calibri" panose="020F0502020204030204" pitchFamily="34" charset="0"/>
                          <a:ea typeface="Calibri" panose="020F0502020204030204" pitchFamily="34" charset="0"/>
                        </a:rPr>
                        <a:t> (SPW=3) </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2D7D2D"/>
                          </a:solidFill>
                          <a:effectLst/>
                          <a:latin typeface="Calibri" panose="020F0502020204030204" pitchFamily="34" charset="0"/>
                          <a:ea typeface="Calibri" panose="020F0502020204030204" pitchFamily="34" charset="0"/>
                        </a:rPr>
                        <a:t>0.801</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2D7D2D"/>
                          </a:solidFill>
                          <a:effectLst/>
                          <a:latin typeface="Calibri" panose="020F0502020204030204" pitchFamily="34" charset="0"/>
                          <a:ea typeface="Calibri" panose="020F0502020204030204" pitchFamily="34" charset="0"/>
                        </a:rPr>
                        <a:t>0.37</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2D7D2D"/>
                          </a:solidFill>
                          <a:effectLst/>
                          <a:latin typeface="Calibri" panose="020F0502020204030204" pitchFamily="34" charset="0"/>
                          <a:ea typeface="Calibri" panose="020F0502020204030204" pitchFamily="34" charset="0"/>
                        </a:rPr>
                        <a:t>0.61</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2D7D2D"/>
                          </a:solidFill>
                          <a:effectLst/>
                          <a:latin typeface="Calibri" panose="020F0502020204030204" pitchFamily="34" charset="0"/>
                          <a:ea typeface="Calibri" panose="020F0502020204030204" pitchFamily="34" charset="0"/>
                        </a:rPr>
                        <a:t>0.46</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2D7D2D"/>
                          </a:solidFill>
                          <a:effectLst/>
                          <a:latin typeface="Calibri" panose="020F0502020204030204" pitchFamily="34" charset="0"/>
                          <a:ea typeface="Calibri" panose="020F0502020204030204" pitchFamily="34" charset="0"/>
                        </a:rPr>
                        <a:t>✓ BEST F1 — recommended for production deployment</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r>
              <a:tr h="593696">
                <a:tc>
                  <a:txBody>
                    <a:bodyPr/>
                    <a:lstStyle/>
                    <a:p>
                      <a:pPr marL="0" marR="0" algn="ctr">
                        <a:spcBef>
                          <a:spcPts val="0"/>
                        </a:spcBef>
                        <a:spcAft>
                          <a:spcPts val="0"/>
                        </a:spcAft>
                      </a:pPr>
                      <a:r>
                        <a:rPr lang="en-US" sz="1400" dirty="0" err="1">
                          <a:solidFill>
                            <a:srgbClr val="000000"/>
                          </a:solidFill>
                          <a:effectLst/>
                          <a:latin typeface="Calibri" panose="020F0502020204030204" pitchFamily="34" charset="0"/>
                          <a:ea typeface="Calibri" panose="020F0502020204030204" pitchFamily="34" charset="0"/>
                        </a:rPr>
                        <a:t>BotRGCN</a:t>
                      </a:r>
                      <a:r>
                        <a:rPr lang="en-US" sz="1400" dirty="0">
                          <a:solidFill>
                            <a:srgbClr val="000000"/>
                          </a:solidFill>
                          <a:effectLst/>
                          <a:latin typeface="Calibri" panose="020F0502020204030204" pitchFamily="34" charset="0"/>
                          <a:ea typeface="Calibri" panose="020F0502020204030204" pitchFamily="34" charset="0"/>
                        </a:rPr>
                        <a:t> (GCN)</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000000"/>
                          </a:solidFill>
                          <a:effectLst/>
                          <a:latin typeface="Calibri" panose="020F0502020204030204" pitchFamily="34" charset="0"/>
                          <a:ea typeface="Calibri" panose="020F0502020204030204" pitchFamily="34" charset="0"/>
                        </a:rPr>
                        <a:t>0.750</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0.31</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000000"/>
                          </a:solidFill>
                          <a:effectLst/>
                          <a:latin typeface="Calibri" panose="020F0502020204030204" pitchFamily="34" charset="0"/>
                          <a:ea typeface="Calibri" panose="020F0502020204030204" pitchFamily="34" charset="0"/>
                        </a:rPr>
                        <a:t>0.63</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0.42</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000000"/>
                          </a:solidFill>
                          <a:effectLst/>
                          <a:latin typeface="Calibri" panose="020F0502020204030204" pitchFamily="34" charset="0"/>
                          <a:ea typeface="Calibri" panose="020F0502020204030204" pitchFamily="34" charset="0"/>
                        </a:rPr>
                        <a:t>~ Competitive recall but training unstable</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r>
              <a:tr h="720746">
                <a:tc>
                  <a:txBody>
                    <a:bodyPr/>
                    <a:lstStyle/>
                    <a:p>
                      <a:pPr marL="0" marR="0" algn="ctr">
                        <a:spcBef>
                          <a:spcPts val="0"/>
                        </a:spcBef>
                        <a:spcAft>
                          <a:spcPts val="0"/>
                        </a:spcAft>
                      </a:pPr>
                      <a:r>
                        <a:rPr lang="en-US" sz="1400" b="1" dirty="0">
                          <a:solidFill>
                            <a:srgbClr val="E67E22"/>
                          </a:solidFill>
                          <a:effectLst/>
                          <a:latin typeface="Calibri" panose="020F0502020204030204" pitchFamily="34" charset="0"/>
                          <a:ea typeface="Calibri" panose="020F0502020204030204" pitchFamily="34" charset="0"/>
                        </a:rPr>
                        <a:t>GAT </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a:solidFill>
                            <a:srgbClr val="E67E22"/>
                          </a:solidFill>
                          <a:effectLst/>
                          <a:latin typeface="Calibri" panose="020F0502020204030204" pitchFamily="34" charset="0"/>
                          <a:ea typeface="Calibri" panose="020F0502020204030204" pitchFamily="34" charset="0"/>
                        </a:rPr>
                        <a:t>0.793</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E67E22"/>
                          </a:solidFill>
                          <a:effectLst/>
                          <a:latin typeface="Calibri" panose="020F0502020204030204" pitchFamily="34" charset="0"/>
                          <a:ea typeface="Calibri" panose="020F0502020204030204" pitchFamily="34" charset="0"/>
                        </a:rPr>
                        <a:t>0.31</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E67E22"/>
                          </a:solidFill>
                          <a:effectLst/>
                          <a:latin typeface="Calibri" panose="020F0502020204030204" pitchFamily="34" charset="0"/>
                          <a:ea typeface="Calibri" panose="020F0502020204030204" pitchFamily="34" charset="0"/>
                        </a:rPr>
                        <a:t>0.75</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a:solidFill>
                            <a:srgbClr val="E67E22"/>
                          </a:solidFill>
                          <a:effectLst/>
                          <a:latin typeface="Calibri" panose="020F0502020204030204" pitchFamily="34" charset="0"/>
                          <a:ea typeface="Calibri" panose="020F0502020204030204" pitchFamily="34" charset="0"/>
                        </a:rPr>
                        <a:t>0.45</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b="1" dirty="0">
                          <a:solidFill>
                            <a:srgbClr val="E67E22"/>
                          </a:solidFill>
                          <a:effectLst/>
                          <a:latin typeface="Calibri" panose="020F0502020204030204" pitchFamily="34" charset="0"/>
                          <a:ea typeface="Calibri" panose="020F0502020204030204" pitchFamily="34" charset="0"/>
                        </a:rPr>
                        <a:t>✓ BEST RECALL — use for high-sensitivity screening</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r>
              <a:tr h="720746">
                <a:tc>
                  <a:txBody>
                    <a:bodyPr/>
                    <a:lstStyle/>
                    <a:p>
                      <a:pPr marL="0" marR="0" algn="ctr">
                        <a:spcBef>
                          <a:spcPts val="0"/>
                        </a:spcBef>
                        <a:spcAft>
                          <a:spcPts val="0"/>
                        </a:spcAft>
                      </a:pPr>
                      <a:r>
                        <a:rPr lang="en-US" sz="1400" dirty="0" err="1">
                          <a:solidFill>
                            <a:srgbClr val="000000"/>
                          </a:solidFill>
                          <a:effectLst/>
                          <a:latin typeface="Calibri" panose="020F0502020204030204" pitchFamily="34" charset="0"/>
                          <a:ea typeface="Calibri" panose="020F0502020204030204" pitchFamily="34" charset="0"/>
                        </a:rPr>
                        <a:t>RoBERTa</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000000"/>
                          </a:solidFill>
                          <a:effectLst/>
                          <a:latin typeface="Calibri" panose="020F0502020204030204" pitchFamily="34" charset="0"/>
                          <a:ea typeface="Calibri" panose="020F0502020204030204" pitchFamily="34" charset="0"/>
                        </a:rPr>
                        <a:t>0.848</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a:solidFill>
                            <a:srgbClr val="000000"/>
                          </a:solidFill>
                          <a:effectLst/>
                          <a:latin typeface="Calibri" panose="020F0502020204030204" pitchFamily="34" charset="0"/>
                          <a:ea typeface="Calibri" panose="020F0502020204030204" pitchFamily="34" charset="0"/>
                        </a:rPr>
                        <a:t>0.00</a:t>
                      </a:r>
                      <a:endParaRPr lang="en-US" sz="140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0.00</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0.00</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c>
                  <a:txBody>
                    <a:bodyPr/>
                    <a:lstStyle/>
                    <a:p>
                      <a:pPr marL="0" marR="0" algn="ctr">
                        <a:spcBef>
                          <a:spcPts val="0"/>
                        </a:spcBef>
                        <a:spcAft>
                          <a:spcPts val="0"/>
                        </a:spcAft>
                      </a:pPr>
                      <a:r>
                        <a:rPr lang="en-US" sz="1400" dirty="0">
                          <a:solidFill>
                            <a:srgbClr val="C0392B"/>
                          </a:solidFill>
                          <a:effectLst/>
                          <a:latin typeface="Calibri" panose="020F0502020204030204" pitchFamily="34" charset="0"/>
                          <a:ea typeface="Calibri" panose="020F0502020204030204" pitchFamily="34" charset="0"/>
                        </a:rPr>
                        <a:t>✗ FAILED — text-only bios insufficient for detection</a:t>
                      </a:r>
                      <a:endParaRPr lang="en-US" sz="1400" dirty="0">
                        <a:effectLst/>
                        <a:latin typeface="Calibri" panose="020F0502020204030204" pitchFamily="34" charset="0"/>
                        <a:ea typeface="Calibri" panose="020F0502020204030204" pitchFamily="34" charset="0"/>
                      </a:endParaRPr>
                    </a:p>
                  </a:txBody>
                  <a:tcPr marL="76200" marR="76200" marT="38100" marB="38100" anchor="ctr"/>
                </a:tc>
              </a:tr>
            </a:tbl>
          </a:graphicData>
        </a:graphic>
      </p:graphicFrame>
      <p:sp>
        <p:nvSpPr>
          <p:cNvPr id="6" name="TextBox 5"/>
          <p:cNvSpPr txBox="1"/>
          <p:nvPr/>
        </p:nvSpPr>
        <p:spPr>
          <a:xfrm>
            <a:off x="4663440" y="1227892"/>
            <a:ext cx="2915920" cy="461665"/>
          </a:xfrm>
          <a:prstGeom prst="rect">
            <a:avLst/>
          </a:prstGeom>
          <a:noFill/>
        </p:spPr>
        <p:txBody>
          <a:bodyPr wrap="square" rtlCol="0">
            <a:spAutoFit/>
          </a:bodyPr>
          <a:lstStyle/>
          <a:p>
            <a:r>
              <a:rPr lang="en-US" sz="2400" b="1" dirty="0"/>
              <a:t>Full Results Table</a:t>
            </a:r>
            <a:endParaRPr lang="en-US" sz="2400" dirty="0"/>
          </a:p>
        </p:txBody>
      </p:sp>
    </p:spTree>
    <p:extLst>
      <p:ext uri="{BB962C8B-B14F-4D97-AF65-F5344CB8AC3E}">
        <p14:creationId xmlns:p14="http://schemas.microsoft.com/office/powerpoint/2010/main" val="2356647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471638" y="308008"/>
            <a:ext cx="4629751" cy="461665"/>
          </a:xfrm>
          <a:prstGeom prst="rect">
            <a:avLst/>
          </a:prstGeom>
          <a:noFill/>
        </p:spPr>
        <p:txBody>
          <a:bodyPr wrap="square" rtlCol="0">
            <a:spAutoFit/>
          </a:bodyPr>
          <a:lstStyle/>
          <a:p>
            <a:r>
              <a:rPr lang="en-US" sz="2400" b="1" dirty="0" smtClean="0">
                <a:solidFill>
                  <a:schemeClr val="accent1"/>
                </a:solidFill>
              </a:rPr>
              <a:t>References</a:t>
            </a:r>
            <a:endParaRPr lang="en-US" sz="2400" b="1" dirty="0">
              <a:solidFill>
                <a:schemeClr val="accent1"/>
              </a:solidFill>
            </a:endParaRPr>
          </a:p>
        </p:txBody>
      </p:sp>
      <p:sp>
        <p:nvSpPr>
          <p:cNvPr id="3" name="TextBox 2"/>
          <p:cNvSpPr txBox="1"/>
          <p:nvPr/>
        </p:nvSpPr>
        <p:spPr>
          <a:xfrm>
            <a:off x="567890" y="1116531"/>
            <a:ext cx="10780295" cy="5324535"/>
          </a:xfrm>
          <a:prstGeom prst="rect">
            <a:avLst/>
          </a:prstGeom>
          <a:noFill/>
        </p:spPr>
        <p:txBody>
          <a:bodyPr wrap="square" rtlCol="0">
            <a:spAutoFit/>
          </a:bodyPr>
          <a:lstStyle/>
          <a:p>
            <a:pPr algn="just"/>
            <a:r>
              <a:rPr lang="en-US" sz="2000" dirty="0"/>
              <a:t>[1] S. </a:t>
            </a:r>
            <a:r>
              <a:rPr lang="en-US" sz="2000" dirty="0" err="1"/>
              <a:t>Cresci</a:t>
            </a:r>
            <a:r>
              <a:rPr lang="en-US" sz="2000" dirty="0"/>
              <a:t> et al., “Enhancing Social Media Bot Detection with Cross-Feature Gating and Residual Learning,” IEEE Access, 2023</a:t>
            </a:r>
            <a:r>
              <a:rPr lang="en-US" sz="2000" dirty="0" smtClean="0"/>
              <a:t>.</a:t>
            </a:r>
          </a:p>
          <a:p>
            <a:pPr algn="just"/>
            <a:endParaRPr lang="en-US" sz="2000" dirty="0"/>
          </a:p>
          <a:p>
            <a:pPr algn="just"/>
            <a:r>
              <a:rPr lang="en-US" sz="2000" dirty="0"/>
              <a:t>[2] K. </a:t>
            </a:r>
            <a:r>
              <a:rPr lang="en-US" sz="2000" dirty="0" err="1"/>
              <a:t>Starbird</a:t>
            </a:r>
            <a:r>
              <a:rPr lang="en-US" sz="2000" dirty="0"/>
              <a:t>, “Detecting Coordinated Inauthentic Behavior Using Causal Inference,” IEEE Security &amp; Privacy, 2022.</a:t>
            </a:r>
          </a:p>
          <a:p>
            <a:pPr algn="just"/>
            <a:endParaRPr lang="en-US" sz="2000" dirty="0" smtClean="0"/>
          </a:p>
          <a:p>
            <a:pPr algn="just"/>
            <a:r>
              <a:rPr lang="en-US" sz="2000" dirty="0" smtClean="0"/>
              <a:t>[</a:t>
            </a:r>
            <a:r>
              <a:rPr lang="en-US" sz="2000" dirty="0"/>
              <a:t>3] Y. Zhang and J. Li, “Semi-Supervised Detection of Fake Accounts on Social Media,” ACM Transactions on Information Systems, 2021.</a:t>
            </a:r>
          </a:p>
          <a:p>
            <a:pPr algn="just"/>
            <a:endParaRPr lang="en-US" sz="2000" dirty="0" smtClean="0"/>
          </a:p>
          <a:p>
            <a:pPr algn="just"/>
            <a:r>
              <a:rPr lang="en-US" sz="2000" dirty="0" smtClean="0"/>
              <a:t>[</a:t>
            </a:r>
            <a:r>
              <a:rPr lang="en-US" sz="2000" dirty="0"/>
              <a:t>4] M. Ahmed et al., “AI-Based Detection of Fake and Bot Accounts in Online Social Networks,” IEEE Access, 2020.</a:t>
            </a:r>
          </a:p>
          <a:p>
            <a:pPr algn="just"/>
            <a:endParaRPr lang="en-US" sz="2000" dirty="0" smtClean="0"/>
          </a:p>
          <a:p>
            <a:pPr algn="just"/>
            <a:r>
              <a:rPr lang="en-US" sz="2000" dirty="0" smtClean="0"/>
              <a:t>[</a:t>
            </a:r>
            <a:r>
              <a:rPr lang="en-US" sz="2000" dirty="0"/>
              <a:t>5] R. Sharma and P. Gupta, “Advanced Detection of Fake Social Media Accounts Using Machine Learning Algorithms,” International Journal of Computer Applications, 2022.</a:t>
            </a:r>
          </a:p>
          <a:p>
            <a:pPr algn="just"/>
            <a:endParaRPr lang="en-US" sz="2000" dirty="0" smtClean="0"/>
          </a:p>
          <a:p>
            <a:pPr algn="just"/>
            <a:r>
              <a:rPr lang="en-US" sz="2000" dirty="0" smtClean="0"/>
              <a:t>[</a:t>
            </a:r>
            <a:r>
              <a:rPr lang="en-US" sz="2000" dirty="0"/>
              <a:t>6] L. Wang et al., “An Enhanced Deep Learning Framework for Fake Content Detection Using </a:t>
            </a:r>
            <a:r>
              <a:rPr lang="en-US" sz="2000" dirty="0" err="1"/>
              <a:t>EfficientNet</a:t>
            </a:r>
            <a:r>
              <a:rPr lang="en-US" sz="2000" dirty="0"/>
              <a:t>,” IEEE Transactions on Multimedia, 2023.</a:t>
            </a:r>
          </a:p>
        </p:txBody>
      </p:sp>
    </p:spTree>
    <p:extLst>
      <p:ext uri="{BB962C8B-B14F-4D97-AF65-F5344CB8AC3E}">
        <p14:creationId xmlns:p14="http://schemas.microsoft.com/office/powerpoint/2010/main" val="33131226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471638" y="308008"/>
            <a:ext cx="4629751" cy="461665"/>
          </a:xfrm>
          <a:prstGeom prst="rect">
            <a:avLst/>
          </a:prstGeom>
          <a:noFill/>
        </p:spPr>
        <p:txBody>
          <a:bodyPr wrap="square" rtlCol="0">
            <a:spAutoFit/>
          </a:bodyPr>
          <a:lstStyle/>
          <a:p>
            <a:r>
              <a:rPr lang="en-US" sz="2400" b="1" dirty="0" smtClean="0">
                <a:solidFill>
                  <a:schemeClr val="accent1"/>
                </a:solidFill>
              </a:rPr>
              <a:t>References</a:t>
            </a:r>
            <a:endParaRPr lang="en-US" sz="2400" b="1" dirty="0">
              <a:solidFill>
                <a:schemeClr val="accent1"/>
              </a:solidFill>
            </a:endParaRPr>
          </a:p>
        </p:txBody>
      </p:sp>
      <p:sp>
        <p:nvSpPr>
          <p:cNvPr id="3" name="TextBox 2"/>
          <p:cNvSpPr txBox="1"/>
          <p:nvPr/>
        </p:nvSpPr>
        <p:spPr>
          <a:xfrm>
            <a:off x="567890" y="1116531"/>
            <a:ext cx="10780295" cy="5324535"/>
          </a:xfrm>
          <a:prstGeom prst="rect">
            <a:avLst/>
          </a:prstGeom>
          <a:noFill/>
        </p:spPr>
        <p:txBody>
          <a:bodyPr wrap="square" rtlCol="0">
            <a:spAutoFit/>
          </a:bodyPr>
          <a:lstStyle/>
          <a:p>
            <a:pPr algn="just"/>
            <a:r>
              <a:rPr lang="en-US" sz="2000" dirty="0"/>
              <a:t>[7] S. Kumar et al., “AI-Based Social Media Fake Account Detection Using Behavioral and Network Analysis,” IEEE Access, 2022</a:t>
            </a:r>
            <a:r>
              <a:rPr lang="en-US" sz="2000" dirty="0" smtClean="0"/>
              <a:t>.</a:t>
            </a:r>
          </a:p>
          <a:p>
            <a:pPr algn="just"/>
            <a:endParaRPr lang="en-US" sz="2000" dirty="0"/>
          </a:p>
          <a:p>
            <a:pPr algn="just"/>
            <a:r>
              <a:rPr lang="en-US" sz="2000" dirty="0"/>
              <a:t>[8] A. Patel and M. Shah, “Fake Account Detection in Online Social Networks Using Artificial Intelligence,” International Journal of Data Science, 2021.</a:t>
            </a:r>
          </a:p>
          <a:p>
            <a:pPr algn="just"/>
            <a:endParaRPr lang="en-US" sz="2000" dirty="0" smtClean="0"/>
          </a:p>
          <a:p>
            <a:pPr algn="just"/>
            <a:r>
              <a:rPr lang="en-US" sz="2000" dirty="0" smtClean="0"/>
              <a:t>[</a:t>
            </a:r>
            <a:r>
              <a:rPr lang="en-US" sz="2000" dirty="0"/>
              <a:t>9] B. Li et al., “Fake Account Detection Using AI-Generated Profile Images,” Proceedings of ACM Conference on Web Intelligence, 2023.</a:t>
            </a:r>
          </a:p>
          <a:p>
            <a:pPr algn="just"/>
            <a:endParaRPr lang="en-US" sz="2000" dirty="0" smtClean="0"/>
          </a:p>
          <a:p>
            <a:pPr algn="just"/>
            <a:r>
              <a:rPr lang="en-US" sz="2000" dirty="0" smtClean="0"/>
              <a:t>[</a:t>
            </a:r>
            <a:r>
              <a:rPr lang="en-US" sz="2000" dirty="0"/>
              <a:t>10] S. </a:t>
            </a:r>
            <a:r>
              <a:rPr lang="en-US" sz="2000" dirty="0" err="1"/>
              <a:t>Cresci</a:t>
            </a:r>
            <a:r>
              <a:rPr lang="en-US" sz="2000" dirty="0"/>
              <a:t> et al., “Detection of </a:t>
            </a:r>
            <a:r>
              <a:rPr lang="en-US" sz="2000" dirty="0" err="1"/>
              <a:t>Spambots</a:t>
            </a:r>
            <a:r>
              <a:rPr lang="en-US" sz="2000" dirty="0"/>
              <a:t> and Fake Followers Using Interpretable AI,” IEEE Security &amp; Privacy, 2019.</a:t>
            </a:r>
          </a:p>
          <a:p>
            <a:pPr algn="just"/>
            <a:endParaRPr lang="en-US" sz="2000" dirty="0" smtClean="0"/>
          </a:p>
          <a:p>
            <a:pPr algn="just"/>
            <a:r>
              <a:rPr lang="en-US" sz="2000" dirty="0" smtClean="0"/>
              <a:t>[</a:t>
            </a:r>
            <a:r>
              <a:rPr lang="en-US" sz="2000" dirty="0"/>
              <a:t>11] J. Ferrara, “AI-Enhanced Influence Operations on Social Media,” Communications of the ACM, 2020.</a:t>
            </a:r>
          </a:p>
          <a:p>
            <a:pPr algn="just"/>
            <a:endParaRPr lang="en-US" sz="2000" dirty="0" smtClean="0"/>
          </a:p>
          <a:p>
            <a:pPr algn="just"/>
            <a:r>
              <a:rPr lang="en-US" sz="2000" dirty="0" smtClean="0"/>
              <a:t>[</a:t>
            </a:r>
            <a:r>
              <a:rPr lang="en-US" sz="2000" dirty="0"/>
              <a:t>12] T. Brown and D. Green, “Economic Analysis of Fake Accounts in the Influencer Economy,” Journal of Digital Economy, 2022.</a:t>
            </a:r>
          </a:p>
        </p:txBody>
      </p:sp>
    </p:spTree>
    <p:extLst>
      <p:ext uri="{BB962C8B-B14F-4D97-AF65-F5344CB8AC3E}">
        <p14:creationId xmlns:p14="http://schemas.microsoft.com/office/powerpoint/2010/main" val="394622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2" name="TextBox 1"/>
          <p:cNvSpPr txBox="1"/>
          <p:nvPr/>
        </p:nvSpPr>
        <p:spPr>
          <a:xfrm>
            <a:off x="1472664" y="3031958"/>
            <a:ext cx="7315200" cy="1107996"/>
          </a:xfrm>
          <a:prstGeom prst="rect">
            <a:avLst/>
          </a:prstGeom>
          <a:noFill/>
        </p:spPr>
        <p:txBody>
          <a:bodyPr wrap="square" rtlCol="0">
            <a:spAutoFit/>
          </a:bodyPr>
          <a:lstStyle/>
          <a:p>
            <a:r>
              <a:rPr lang="en-US" dirty="0" smtClean="0">
                <a:solidFill>
                  <a:schemeClr val="tx1"/>
                </a:solidFill>
              </a:rPr>
              <a:t>                                                            </a:t>
            </a:r>
            <a:r>
              <a:rPr lang="en-US" sz="6600" b="1" dirty="0" smtClean="0">
                <a:solidFill>
                  <a:schemeClr val="tx1"/>
                </a:solidFill>
              </a:rPr>
              <a:t>Q&amp;A</a:t>
            </a:r>
            <a:endParaRPr lang="en-US" sz="6600" b="1" dirty="0">
              <a:solidFill>
                <a:schemeClr val="tx1"/>
              </a:solidFill>
            </a:endParaRPr>
          </a:p>
        </p:txBody>
      </p:sp>
    </p:spTree>
    <p:extLst>
      <p:ext uri="{BB962C8B-B14F-4D97-AF65-F5344CB8AC3E}">
        <p14:creationId xmlns:p14="http://schemas.microsoft.com/office/powerpoint/2010/main" val="24810724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0"/>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TotalTime>
  <Words>2826</Words>
  <Application>Microsoft Office PowerPoint</Application>
  <PresentationFormat>Widescreen</PresentationFormat>
  <Paragraphs>529</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Calibri</vt:lpstr>
      <vt:lpstr>Proxima Nova</vt:lpstr>
      <vt:lpstr>Arial</vt:lpstr>
      <vt:lpstr>Office Theme</vt:lpstr>
      <vt:lpstr>PowerPoint Presentation</vt:lpstr>
      <vt:lpstr>PowerPoint Presentation</vt:lpstr>
      <vt:lpstr>Outline</vt:lpstr>
      <vt:lpstr>Abstract</vt:lpstr>
      <vt:lpstr>Introduction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Microsoft account</cp:lastModifiedBy>
  <cp:revision>60</cp:revision>
  <dcterms:created xsi:type="dcterms:W3CDTF">2023-12-05T07:58:00Z</dcterms:created>
  <dcterms:modified xsi:type="dcterms:W3CDTF">2026-04-11T03:24:02Z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1033-12.2.0.23196</vt:lpwstr>
  </property>
</Properties>
</file>